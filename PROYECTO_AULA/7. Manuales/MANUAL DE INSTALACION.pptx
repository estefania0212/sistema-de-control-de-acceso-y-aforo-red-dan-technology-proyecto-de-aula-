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sldIdLst>
    <p:sldId id="396" r:id="rId2"/>
    <p:sldId id="398" r:id="rId3"/>
    <p:sldId id="399" r:id="rId4"/>
    <p:sldId id="400" r:id="rId5"/>
    <p:sldId id="401" r:id="rId6"/>
    <p:sldId id="402" r:id="rId7"/>
    <p:sldId id="403" r:id="rId8"/>
    <p:sldId id="406" r:id="rId9"/>
    <p:sldId id="404" r:id="rId10"/>
    <p:sldId id="405" r:id="rId11"/>
    <p:sldId id="407" r:id="rId12"/>
    <p:sldId id="409" r:id="rId13"/>
    <p:sldId id="408" r:id="rId14"/>
    <p:sldId id="411" r:id="rId15"/>
    <p:sldId id="410" r:id="rId16"/>
    <p:sldId id="412" r:id="rId17"/>
    <p:sldId id="415" r:id="rId18"/>
    <p:sldId id="414" r:id="rId19"/>
    <p:sldId id="413" r:id="rId20"/>
    <p:sldId id="418" r:id="rId21"/>
    <p:sldId id="417" r:id="rId22"/>
    <p:sldId id="421" r:id="rId23"/>
    <p:sldId id="420" r:id="rId24"/>
    <p:sldId id="419" r:id="rId25"/>
    <p:sldId id="423" r:id="rId26"/>
    <p:sldId id="422" r:id="rId27"/>
    <p:sldId id="416" r:id="rId28"/>
    <p:sldId id="424" r:id="rId29"/>
    <p:sldId id="397" r:id="rId30"/>
    <p:sldId id="376" r:id="rId31"/>
    <p:sldId id="377" r:id="rId32"/>
    <p:sldId id="378" r:id="rId33"/>
    <p:sldId id="379" r:id="rId34"/>
    <p:sldId id="380" r:id="rId35"/>
    <p:sldId id="381" r:id="rId36"/>
    <p:sldId id="382" r:id="rId37"/>
    <p:sldId id="383" r:id="rId38"/>
    <p:sldId id="384" r:id="rId39"/>
    <p:sldId id="385" r:id="rId40"/>
    <p:sldId id="386" r:id="rId41"/>
    <p:sldId id="387" r:id="rId42"/>
    <p:sldId id="388" r:id="rId43"/>
    <p:sldId id="389" r:id="rId44"/>
    <p:sldId id="390" r:id="rId45"/>
    <p:sldId id="391" r:id="rId46"/>
    <p:sldId id="392" r:id="rId47"/>
    <p:sldId id="393" r:id="rId48"/>
    <p:sldId id="394" r:id="rId49"/>
    <p:sldId id="395" r:id="rId50"/>
    <p:sldId id="425" r:id="rId5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069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672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63312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728220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821843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285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517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199525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759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226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217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8074199-9168-4043-A455-25D2004EF7A2}" type="datetimeFigureOut">
              <a:rPr lang="es-ES" smtClean="0"/>
              <a:t>01/12/2021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0F46768-58C1-4839-B15A-731A4FD253C8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1647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ostgresql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netbeans.org/downloads/8.2/" TargetMode="External"/><Relationship Id="rId2" Type="http://schemas.openxmlformats.org/officeDocument/2006/relationships/hyperlink" Target="https://www.oracle.com/technetwork/java/javase/downloads/jdk8-downloads-2133151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smtClean="0"/>
              <a:t>Manual de instalación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718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smtClean="0"/>
              <a:t>INSTALACIÓN DE POSTGRES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4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51678" y="229985"/>
            <a:ext cx="10178322" cy="1492132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/>
            </a:r>
            <a:br>
              <a:rPr lang="es-MX" dirty="0"/>
            </a:br>
            <a:r>
              <a:rPr lang="es-MX" dirty="0"/>
              <a:t>REQUERIMIENTOS PARA INSTALAR POSTGRES:</a:t>
            </a:r>
            <a:br>
              <a:rPr lang="es-MX" dirty="0"/>
            </a:b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4156363"/>
          </a:xfrm>
        </p:spPr>
        <p:txBody>
          <a:bodyPr>
            <a:normAutofit/>
          </a:bodyPr>
          <a:lstStyle/>
          <a:p>
            <a:r>
              <a:rPr lang="es-MX" dirty="0" smtClean="0">
                <a:solidFill>
                  <a:schemeClr val="tx1"/>
                </a:solidFill>
              </a:rPr>
              <a:t>Los </a:t>
            </a:r>
            <a:r>
              <a:rPr lang="es-MX" dirty="0">
                <a:solidFill>
                  <a:schemeClr val="tx1"/>
                </a:solidFill>
              </a:rPr>
              <a:t>requerimientos mínimos con que debe cumplir una máquina para </a:t>
            </a:r>
            <a:r>
              <a:rPr lang="es-MX" dirty="0" smtClean="0">
                <a:solidFill>
                  <a:schemeClr val="tx1"/>
                </a:solidFill>
              </a:rPr>
              <a:t>poder Instalar </a:t>
            </a:r>
            <a:r>
              <a:rPr lang="es-MX" dirty="0" err="1">
                <a:solidFill>
                  <a:schemeClr val="tx1"/>
                </a:solidFill>
              </a:rPr>
              <a:t>PostgreSQL</a:t>
            </a:r>
            <a:r>
              <a:rPr lang="es-MX" dirty="0">
                <a:solidFill>
                  <a:schemeClr val="tx1"/>
                </a:solidFill>
              </a:rPr>
              <a:t> es</a:t>
            </a:r>
            <a:r>
              <a:rPr lang="es-MX" dirty="0" smtClean="0">
                <a:solidFill>
                  <a:schemeClr val="tx1"/>
                </a:solidFill>
              </a:rPr>
              <a:t>: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MX" dirty="0">
                <a:solidFill>
                  <a:schemeClr val="tx1"/>
                </a:solidFill>
              </a:rPr>
              <a:t> 8 megabytes de Memoria </a:t>
            </a:r>
            <a:r>
              <a:rPr lang="es-MX" dirty="0" smtClean="0">
                <a:solidFill>
                  <a:schemeClr val="tx1"/>
                </a:solidFill>
              </a:rPr>
              <a:t>RAM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MX" dirty="0">
                <a:solidFill>
                  <a:schemeClr val="tx1"/>
                </a:solidFill>
              </a:rPr>
              <a:t> 30 megabytes de espacio en disco duro para el cogido </a:t>
            </a:r>
            <a:r>
              <a:rPr lang="es-MX" dirty="0" smtClean="0">
                <a:solidFill>
                  <a:schemeClr val="tx1"/>
                </a:solidFill>
              </a:rPr>
              <a:t>fuente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MX" dirty="0">
                <a:solidFill>
                  <a:schemeClr val="tx1"/>
                </a:solidFill>
              </a:rPr>
              <a:t> 5 megabytes de espacio en disco duro para la instalación de los </a:t>
            </a:r>
            <a:r>
              <a:rPr lang="es-MX" dirty="0" smtClean="0">
                <a:solidFill>
                  <a:schemeClr val="tx1"/>
                </a:solidFill>
              </a:rPr>
              <a:t>ejecutables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MX" dirty="0">
                <a:solidFill>
                  <a:schemeClr val="tx1"/>
                </a:solidFill>
              </a:rPr>
              <a:t> 1 megabyte extra para las bases de datos </a:t>
            </a:r>
            <a:r>
              <a:rPr lang="es-MX" dirty="0" smtClean="0">
                <a:solidFill>
                  <a:schemeClr val="tx1"/>
                </a:solidFill>
              </a:rPr>
              <a:t>básicas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MX" dirty="0">
                <a:solidFill>
                  <a:schemeClr val="tx1"/>
                </a:solidFill>
              </a:rPr>
              <a:t> 3 megabytes de espacio en disco duro para el </a:t>
            </a:r>
            <a:r>
              <a:rPr lang="es-MX" dirty="0" err="1">
                <a:solidFill>
                  <a:schemeClr val="tx1"/>
                </a:solidFill>
              </a:rPr>
              <a:t>tarball</a:t>
            </a:r>
            <a:r>
              <a:rPr lang="es-MX" dirty="0">
                <a:solidFill>
                  <a:schemeClr val="tx1"/>
                </a:solidFill>
              </a:rPr>
              <a:t> con el código fuente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778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651164"/>
            <a:ext cx="10178322" cy="5486399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En éste caso, usaremos Windows, pero los pasos son bastante similares entre los diferentes sistemas operativos.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s-CO" dirty="0">
                <a:solidFill>
                  <a:schemeClr val="tx1"/>
                </a:solidFill>
              </a:rPr>
              <a:t>Primer paso: ir a</a:t>
            </a:r>
            <a:r>
              <a:rPr lang="es-CO" dirty="0"/>
              <a:t> </a:t>
            </a:r>
            <a:r>
              <a:rPr lang="es-CO" u="sng" dirty="0">
                <a:hlinkClick r:id="rId2"/>
              </a:rPr>
              <a:t>https://www.postgresql.org/</a:t>
            </a:r>
            <a:r>
              <a:rPr lang="es-CO" dirty="0"/>
              <a:t>.</a:t>
            </a:r>
            <a:endParaRPr lang="en-US" dirty="0"/>
          </a:p>
          <a:p>
            <a:r>
              <a:rPr lang="es-CO" dirty="0">
                <a:solidFill>
                  <a:schemeClr val="tx1"/>
                </a:solidFill>
              </a:rPr>
              <a:t>Actualmente, la página web oficial de </a:t>
            </a:r>
            <a:r>
              <a:rPr lang="es-CO" dirty="0" err="1">
                <a:solidFill>
                  <a:schemeClr val="tx1"/>
                </a:solidFill>
              </a:rPr>
              <a:t>postgres</a:t>
            </a:r>
            <a:r>
              <a:rPr lang="es-CO" dirty="0">
                <a:solidFill>
                  <a:schemeClr val="tx1"/>
                </a:solidFill>
              </a:rPr>
              <a:t> luce así: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659" y="2325405"/>
            <a:ext cx="4031840" cy="4322967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4726236" y="2313542"/>
            <a:ext cx="396607" cy="209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1570383" y="198783"/>
            <a:ext cx="389613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rgbClr val="FF0000"/>
                </a:solidFill>
              </a:rPr>
              <a:t>Paso 1</a:t>
            </a:r>
            <a:r>
              <a:rPr lang="es-CO" dirty="0" smtClean="0"/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840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318655"/>
            <a:ext cx="10178322" cy="5560937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Hacer clic en el botón ‘</a:t>
            </a:r>
            <a:r>
              <a:rPr lang="es-CO" dirty="0" err="1">
                <a:solidFill>
                  <a:schemeClr val="tx1"/>
                </a:solidFill>
              </a:rPr>
              <a:t>Download</a:t>
            </a:r>
            <a:r>
              <a:rPr lang="es-CO" dirty="0">
                <a:solidFill>
                  <a:schemeClr val="tx1"/>
                </a:solidFill>
              </a:rPr>
              <a:t>’ (Descarga) que se encuentra en la parte inferior derecha. </a:t>
            </a:r>
            <a:r>
              <a:rPr lang="en-US" dirty="0" err="1">
                <a:solidFill>
                  <a:schemeClr val="tx1"/>
                </a:solidFill>
              </a:rPr>
              <a:t>Veremos</a:t>
            </a:r>
            <a:r>
              <a:rPr lang="en-US" dirty="0">
                <a:solidFill>
                  <a:schemeClr val="tx1"/>
                </a:solidFill>
              </a:rPr>
              <a:t> lo </a:t>
            </a:r>
            <a:r>
              <a:rPr lang="en-US" dirty="0" err="1">
                <a:solidFill>
                  <a:schemeClr val="tx1"/>
                </a:solidFill>
              </a:rPr>
              <a:t>siguiente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/>
          </a:p>
        </p:txBody>
      </p:sp>
      <p:pic>
        <p:nvPicPr>
          <p:cNvPr id="4" name="Imagen 3" descr="2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248" y="1268758"/>
            <a:ext cx="6522085" cy="48469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 4"/>
          <p:cNvSpPr/>
          <p:nvPr/>
        </p:nvSpPr>
        <p:spPr>
          <a:xfrm>
            <a:off x="2807248" y="2313542"/>
            <a:ext cx="740183" cy="275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580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286439"/>
            <a:ext cx="10178322" cy="5593153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Veremos lo siguiente:</a:t>
            </a:r>
            <a:br>
              <a:rPr lang="es-CO" dirty="0">
                <a:solidFill>
                  <a:schemeClr val="tx1"/>
                </a:solidFill>
              </a:rPr>
            </a:br>
            <a:r>
              <a:rPr lang="es-CO" dirty="0">
                <a:solidFill>
                  <a:schemeClr val="tx1"/>
                </a:solidFill>
              </a:rPr>
              <a:t>Seleccionamos la opción que corresponda con tu sistema operativo, para éste caso hacemos clic en “Windows”: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s-CO" dirty="0">
                <a:solidFill>
                  <a:schemeClr val="tx1"/>
                </a:solidFill>
              </a:rPr>
              <a:t>Veremos en la parte </a:t>
            </a:r>
            <a:r>
              <a:rPr lang="es-CO" dirty="0" smtClean="0">
                <a:solidFill>
                  <a:schemeClr val="tx1"/>
                </a:solidFill>
              </a:rPr>
              <a:t>inferior:</a:t>
            </a:r>
          </a:p>
          <a:p>
            <a:endParaRPr lang="es-CO" dirty="0">
              <a:solidFill>
                <a:schemeClr val="tx1"/>
              </a:solidFill>
            </a:endParaRPr>
          </a:p>
          <a:p>
            <a:endParaRPr lang="es-CO" dirty="0" smtClean="0">
              <a:solidFill>
                <a:schemeClr val="tx1"/>
              </a:solidFill>
            </a:endParaRPr>
          </a:p>
          <a:p>
            <a:endParaRPr lang="es-CO" dirty="0">
              <a:solidFill>
                <a:schemeClr val="tx1"/>
              </a:solidFill>
            </a:endParaRPr>
          </a:p>
          <a:p>
            <a:endParaRPr lang="es-CO" dirty="0" smtClean="0">
              <a:solidFill>
                <a:schemeClr val="tx1"/>
              </a:solidFill>
            </a:endParaRPr>
          </a:p>
          <a:p>
            <a:endParaRPr lang="es-CO" dirty="0">
              <a:solidFill>
                <a:schemeClr val="tx1"/>
              </a:solidFill>
            </a:endParaRPr>
          </a:p>
          <a:p>
            <a:endParaRPr lang="es-CO" dirty="0" smtClean="0">
              <a:solidFill>
                <a:schemeClr val="tx1"/>
              </a:solidFill>
            </a:endParaRPr>
          </a:p>
          <a:p>
            <a:r>
              <a:rPr lang="es-CO" dirty="0" smtClean="0">
                <a:solidFill>
                  <a:schemeClr val="tx1"/>
                </a:solidFill>
              </a:rPr>
              <a:t>Haz </a:t>
            </a:r>
            <a:r>
              <a:rPr lang="es-CO" dirty="0">
                <a:solidFill>
                  <a:schemeClr val="tx1"/>
                </a:solidFill>
              </a:rPr>
              <a:t>clic en el enlace “</a:t>
            </a:r>
            <a:r>
              <a:rPr lang="es-CO" dirty="0" err="1">
                <a:solidFill>
                  <a:schemeClr val="tx1"/>
                </a:solidFill>
              </a:rPr>
              <a:t>Download</a:t>
            </a:r>
            <a:r>
              <a:rPr lang="es-CO" dirty="0">
                <a:solidFill>
                  <a:schemeClr val="tx1"/>
                </a:solidFill>
              </a:rPr>
              <a:t> </a:t>
            </a:r>
            <a:r>
              <a:rPr lang="es-CO" dirty="0" err="1">
                <a:solidFill>
                  <a:schemeClr val="tx1"/>
                </a:solidFill>
              </a:rPr>
              <a:t>the</a:t>
            </a:r>
            <a:r>
              <a:rPr lang="es-CO" dirty="0">
                <a:solidFill>
                  <a:schemeClr val="tx1"/>
                </a:solidFill>
              </a:rPr>
              <a:t> </a:t>
            </a:r>
            <a:r>
              <a:rPr lang="es-CO" dirty="0" err="1">
                <a:solidFill>
                  <a:schemeClr val="tx1"/>
                </a:solidFill>
              </a:rPr>
              <a:t>installer</a:t>
            </a:r>
            <a:r>
              <a:rPr lang="es-CO" dirty="0">
                <a:solidFill>
                  <a:schemeClr val="tx1"/>
                </a:solidFill>
              </a:rPr>
              <a:t>”. Esto nos va a llevar a la Web de Enterprise DB o EDB. EDB es una empresa que ofrece servicios sobre el motor de base de datos </a:t>
            </a:r>
            <a:r>
              <a:rPr lang="es-CO" dirty="0" err="1">
                <a:solidFill>
                  <a:schemeClr val="tx1"/>
                </a:solidFill>
              </a:rPr>
              <a:t>PostgreSQL</a:t>
            </a:r>
            <a:r>
              <a:rPr lang="es-CO" dirty="0">
                <a:solidFill>
                  <a:schemeClr val="tx1"/>
                </a:solidFill>
              </a:rPr>
              <a:t> y ofrece un instalador para </a:t>
            </a:r>
            <a:r>
              <a:rPr lang="es-CO" dirty="0" err="1">
                <a:solidFill>
                  <a:schemeClr val="tx1"/>
                </a:solidFill>
              </a:rPr>
              <a:t>Postgres</a:t>
            </a:r>
            <a:r>
              <a:rPr lang="es-CO" dirty="0">
                <a:solidFill>
                  <a:schemeClr val="tx1"/>
                </a:solidFill>
              </a:rPr>
              <a:t> de manera gratuita.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n 3" descr="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007" y="1840546"/>
            <a:ext cx="6353175" cy="228663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 4"/>
          <p:cNvSpPr/>
          <p:nvPr/>
        </p:nvSpPr>
        <p:spPr>
          <a:xfrm>
            <a:off x="2655007" y="2588964"/>
            <a:ext cx="1134795" cy="275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52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3161841"/>
            <a:ext cx="10178322" cy="3696159"/>
          </a:xfrm>
        </p:spPr>
        <p:txBody>
          <a:bodyPr>
            <a:normAutofit fontScale="85000" lnSpcReduction="20000"/>
          </a:bodyPr>
          <a:lstStyle/>
          <a:p>
            <a:r>
              <a:rPr lang="es-MX" dirty="0">
                <a:solidFill>
                  <a:schemeClr val="tx1"/>
                </a:solidFill>
              </a:rPr>
              <a:t>Es altamente recomendable seleccionar la penúltima o antepenúltima versión. Si bien la última versión estable está disponible, en éste caso la 12.0, no es recomendable instalarla en nuestro equipo, ya que al momento de instalarla o usar un servicio en la Nube para </a:t>
            </a:r>
            <a:r>
              <a:rPr lang="es-MX" dirty="0" err="1">
                <a:solidFill>
                  <a:schemeClr val="tx1"/>
                </a:solidFill>
              </a:rPr>
              <a:t>Postgres</a:t>
            </a:r>
            <a:r>
              <a:rPr lang="es-MX" dirty="0">
                <a:solidFill>
                  <a:schemeClr val="tx1"/>
                </a:solidFill>
              </a:rPr>
              <a:t>, lo más seguro es que no esté disponible y sólo esté hasta la versión 11.5, que no es la última versión. Esto porque todos los proveedores de Infraestructura no disponen de la versión de </a:t>
            </a:r>
            <a:r>
              <a:rPr lang="es-MX" dirty="0" err="1">
                <a:solidFill>
                  <a:schemeClr val="tx1"/>
                </a:solidFill>
              </a:rPr>
              <a:t>Postgres</a:t>
            </a:r>
            <a:r>
              <a:rPr lang="es-MX" dirty="0">
                <a:solidFill>
                  <a:schemeClr val="tx1"/>
                </a:solidFill>
              </a:rPr>
              <a:t> más actual siempre (tardan un poco en apropiar los nuevos lanzamientos).</a:t>
            </a:r>
          </a:p>
          <a:p>
            <a:r>
              <a:rPr lang="es-MX" dirty="0">
                <a:solidFill>
                  <a:schemeClr val="tx1"/>
                </a:solidFill>
              </a:rPr>
              <a:t>Si tienes un equipo con Linux, la instalación la puedes hacer directamente desde los repositorios de Linux, EDB ya no ofrece soporte para instaladores en Linux debido a que se ha vuelto innecesario, el repositorio de Linux con </a:t>
            </a:r>
            <a:r>
              <a:rPr lang="es-MX" dirty="0" err="1">
                <a:solidFill>
                  <a:schemeClr val="tx1"/>
                </a:solidFill>
              </a:rPr>
              <a:t>PostgreSQL</a:t>
            </a:r>
            <a:r>
              <a:rPr lang="es-MX" dirty="0">
                <a:solidFill>
                  <a:schemeClr val="tx1"/>
                </a:solidFill>
              </a:rPr>
              <a:t> ofrece una manera mucho más sencilla y estándar para instalar </a:t>
            </a:r>
            <a:r>
              <a:rPr lang="es-MX" dirty="0" err="1">
                <a:solidFill>
                  <a:schemeClr val="tx1"/>
                </a:solidFill>
              </a:rPr>
              <a:t>PostgreSQL</a:t>
            </a:r>
            <a:r>
              <a:rPr lang="es-MX" dirty="0">
                <a:solidFill>
                  <a:schemeClr val="tx1"/>
                </a:solidFill>
              </a:rPr>
              <a:t> en </a:t>
            </a:r>
            <a:r>
              <a:rPr lang="es-MX" dirty="0" err="1">
                <a:solidFill>
                  <a:schemeClr val="tx1"/>
                </a:solidFill>
              </a:rPr>
              <a:t>linux</a:t>
            </a:r>
            <a:r>
              <a:rPr lang="es-MX" dirty="0">
                <a:solidFill>
                  <a:schemeClr val="tx1"/>
                </a:solidFill>
              </a:rPr>
              <a:t>.</a:t>
            </a:r>
          </a:p>
          <a:p>
            <a:r>
              <a:rPr lang="es-MX" dirty="0">
                <a:solidFill>
                  <a:schemeClr val="tx1"/>
                </a:solidFill>
              </a:rPr>
              <a:t>Segundo paso: descargamos la versión “Windows x86-64” (porque nuestro sistema operativo es de 64 bits). En caso de que tu equipo sea de 32 bits debes seleccionar la opción “Windows x86-32”.</a:t>
            </a:r>
          </a:p>
          <a:p>
            <a:r>
              <a:rPr lang="es-MX" dirty="0">
                <a:solidFill>
                  <a:schemeClr val="tx1"/>
                </a:solidFill>
              </a:rPr>
              <a:t>Vamos a descargar la versión 11.5. Hacemos clic en </a:t>
            </a:r>
            <a:r>
              <a:rPr lang="es-MX" dirty="0" err="1">
                <a:solidFill>
                  <a:schemeClr val="tx1"/>
                </a:solidFill>
              </a:rPr>
              <a:t>Download</a:t>
            </a:r>
            <a:r>
              <a:rPr lang="es-MX" dirty="0">
                <a:solidFill>
                  <a:schemeClr val="tx1"/>
                </a:solidFill>
              </a:rPr>
              <a:t> y guardamos el archivo que tendrá un nombre similar a:</a:t>
            </a:r>
          </a:p>
          <a:p>
            <a:r>
              <a:rPr lang="es-MX" dirty="0">
                <a:solidFill>
                  <a:schemeClr val="tx1"/>
                </a:solidFill>
              </a:rPr>
              <a:t>“postgresql-11.5-2-windows-x64.exe”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Imagen 5" descr="4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711" y="334174"/>
            <a:ext cx="6644777" cy="268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807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4102" y="489474"/>
            <a:ext cx="10178322" cy="3593591"/>
          </a:xfrm>
        </p:spPr>
        <p:txBody>
          <a:bodyPr/>
          <a:lstStyle/>
          <a:p>
            <a:r>
              <a:rPr lang="es-CO" dirty="0" smtClean="0">
                <a:solidFill>
                  <a:srgbClr val="FF0000"/>
                </a:solidFill>
              </a:rPr>
              <a:t>Paso 2:</a:t>
            </a:r>
          </a:p>
          <a:p>
            <a:r>
              <a:rPr lang="es-CO" dirty="0" smtClean="0"/>
              <a:t>Ahora </a:t>
            </a:r>
            <a:r>
              <a:rPr lang="es-CO" dirty="0"/>
              <a:t>vamos a la carpeta donde descargamos el archivo .</a:t>
            </a:r>
            <a:r>
              <a:rPr lang="es-CO" dirty="0" err="1"/>
              <a:t>exe</a:t>
            </a:r>
            <a:r>
              <a:rPr lang="es-CO" dirty="0"/>
              <a:t>, debe ser de aproximadamente 190 MB, lo ejecutamos.</a:t>
            </a:r>
            <a:endParaRPr lang="en-US" dirty="0"/>
          </a:p>
          <a:p>
            <a:r>
              <a:rPr lang="en-US" dirty="0" err="1"/>
              <a:t>Veremos</a:t>
            </a:r>
            <a:r>
              <a:rPr lang="en-US" dirty="0"/>
              <a:t> lo </a:t>
            </a:r>
            <a:r>
              <a:rPr lang="en-US" dirty="0" err="1"/>
              <a:t>siguiente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856" y="2144712"/>
            <a:ext cx="4946813" cy="387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36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903643"/>
            <a:ext cx="10178322" cy="4975950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Hacemos clic en siguiente. Si deseas cambiar la carpeta de destino, ahora es el momento: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559" y="1571688"/>
            <a:ext cx="5395428" cy="423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447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75304"/>
            <a:ext cx="10178322" cy="5804289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Seleccionamos los servicios que queremos instalar. En este caso dejamos seleccionados todos menos “</a:t>
            </a:r>
            <a:r>
              <a:rPr lang="es-CO" dirty="0" err="1">
                <a:solidFill>
                  <a:schemeClr val="tx1"/>
                </a:solidFill>
              </a:rPr>
              <a:t>Stack</a:t>
            </a:r>
            <a:r>
              <a:rPr lang="es-CO" dirty="0">
                <a:solidFill>
                  <a:schemeClr val="tx1"/>
                </a:solidFill>
              </a:rPr>
              <a:t> </a:t>
            </a:r>
            <a:r>
              <a:rPr lang="es-CO" dirty="0" err="1">
                <a:solidFill>
                  <a:schemeClr val="tx1"/>
                </a:solidFill>
              </a:rPr>
              <a:t>Builder</a:t>
            </a:r>
            <a:r>
              <a:rPr lang="es-CO" dirty="0">
                <a:solidFill>
                  <a:schemeClr val="tx1"/>
                </a:solidFill>
              </a:rPr>
              <a:t>”, pues ofrece la instalación de servicios adicionales que no necesitamos hasta ahora. </a:t>
            </a:r>
            <a:r>
              <a:rPr lang="en-US" dirty="0" err="1">
                <a:solidFill>
                  <a:schemeClr val="tx1"/>
                </a:solidFill>
              </a:rPr>
              <a:t>Luego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hacemos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clic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siguiente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594" y="1361788"/>
            <a:ext cx="5260489" cy="412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76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720763"/>
            <a:ext cx="10178322" cy="5158830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Ahora indicamos la carpeta donde </a:t>
            </a:r>
            <a:r>
              <a:rPr lang="es-CO" dirty="0" err="1">
                <a:solidFill>
                  <a:schemeClr val="tx1"/>
                </a:solidFill>
              </a:rPr>
              <a:t>iran</a:t>
            </a:r>
            <a:r>
              <a:rPr lang="es-CO" dirty="0">
                <a:solidFill>
                  <a:schemeClr val="tx1"/>
                </a:solidFill>
              </a:rPr>
              <a:t> guardados los datos de la base de datos, es diferente a la ruta de instalación del Motor de </a:t>
            </a:r>
            <a:r>
              <a:rPr lang="es-CO" dirty="0" err="1">
                <a:solidFill>
                  <a:schemeClr val="tx1"/>
                </a:solidFill>
              </a:rPr>
              <a:t>PostgreSQL</a:t>
            </a:r>
            <a:r>
              <a:rPr lang="es-CO" dirty="0">
                <a:solidFill>
                  <a:schemeClr val="tx1"/>
                </a:solidFill>
              </a:rPr>
              <a:t>, pero normalmente será una carpeta de nuestra carpeta de instalación. Puedes cambiar la ruta si quieres tener los datos en otra carpeta. </a:t>
            </a:r>
            <a:r>
              <a:rPr lang="en-US" dirty="0" err="1">
                <a:solidFill>
                  <a:schemeClr val="tx1"/>
                </a:solidFill>
              </a:rPr>
              <a:t>Hacemos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clic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siguiente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815" y="2302747"/>
            <a:ext cx="5579365" cy="437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75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245327"/>
            <a:ext cx="10178322" cy="5634265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Ingresamos la contraseña del usuario administrador. De manera predeterminada, </a:t>
            </a:r>
            <a:r>
              <a:rPr lang="es-CO" dirty="0" err="1">
                <a:solidFill>
                  <a:schemeClr val="tx1"/>
                </a:solidFill>
              </a:rPr>
              <a:t>Postgres</a:t>
            </a:r>
            <a:r>
              <a:rPr lang="es-CO" dirty="0">
                <a:solidFill>
                  <a:schemeClr val="tx1"/>
                </a:solidFill>
              </a:rPr>
              <a:t> crea un usuario </a:t>
            </a:r>
            <a:r>
              <a:rPr lang="es-CO" dirty="0" err="1">
                <a:solidFill>
                  <a:schemeClr val="tx1"/>
                </a:solidFill>
              </a:rPr>
              <a:t>super</a:t>
            </a:r>
            <a:r>
              <a:rPr lang="es-CO" dirty="0">
                <a:solidFill>
                  <a:schemeClr val="tx1"/>
                </a:solidFill>
              </a:rPr>
              <a:t> administrador llamado </a:t>
            </a:r>
            <a:r>
              <a:rPr lang="es-CO" dirty="0" err="1">
                <a:solidFill>
                  <a:schemeClr val="tx1"/>
                </a:solidFill>
              </a:rPr>
              <a:t>postgres</a:t>
            </a:r>
            <a:r>
              <a:rPr lang="es-CO" dirty="0">
                <a:solidFill>
                  <a:schemeClr val="tx1"/>
                </a:solidFill>
              </a:rPr>
              <a:t> que tiene todos los permisos y acceso a toda la base de datos, tanto para consultarla como para modificarla. En éste paso indicamos la clave de ese usuario </a:t>
            </a:r>
            <a:r>
              <a:rPr lang="es-CO" dirty="0" err="1">
                <a:solidFill>
                  <a:schemeClr val="tx1"/>
                </a:solidFill>
              </a:rPr>
              <a:t>super</a:t>
            </a:r>
            <a:r>
              <a:rPr lang="es-CO" dirty="0">
                <a:solidFill>
                  <a:schemeClr val="tx1"/>
                </a:solidFill>
              </a:rPr>
              <a:t> administrador.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s-CO" dirty="0">
                <a:solidFill>
                  <a:schemeClr val="tx1"/>
                </a:solidFill>
              </a:rPr>
              <a:t>Debes ingresar una clave muy segura y guardarla porque la vas a necesitar después. </a:t>
            </a:r>
            <a:r>
              <a:rPr lang="en-US" dirty="0" err="1">
                <a:solidFill>
                  <a:schemeClr val="tx1"/>
                </a:solidFill>
              </a:rPr>
              <a:t>Luego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hacemos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clic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siguiente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620" y="2486722"/>
            <a:ext cx="5334284" cy="418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715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29376" y="167269"/>
            <a:ext cx="10178322" cy="3593591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Ahora si queremos cambiar el puerto por donde el servicio de </a:t>
            </a:r>
            <a:r>
              <a:rPr lang="es-CO" dirty="0" err="1">
                <a:solidFill>
                  <a:schemeClr val="tx1"/>
                </a:solidFill>
              </a:rPr>
              <a:t>Postgresql</a:t>
            </a:r>
            <a:r>
              <a:rPr lang="es-CO" dirty="0">
                <a:solidFill>
                  <a:schemeClr val="tx1"/>
                </a:solidFill>
              </a:rPr>
              <a:t> estará escuchando peticiones, podemos hacerlo en la siguiente pantalla, si queremos dejar el predeterminado simplemente hacemos clic en siguiente.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4" name="Imagen 3" descr="1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744" y="1379927"/>
            <a:ext cx="6077585" cy="47618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15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40888" y="178421"/>
            <a:ext cx="10178322" cy="3593591"/>
          </a:xfrm>
        </p:spPr>
        <p:txBody>
          <a:bodyPr/>
          <a:lstStyle/>
          <a:p>
            <a:r>
              <a:rPr lang="es-CO" dirty="0"/>
              <a:t>La configuración regional puede ser la predeterminada, no es necesario cambiarla, incluso si vamos a usarla en español, ya que las tildes y las eñes estarán soportadas si dejas la configuración regional predeterminada. Es útil cambiarla cuando quieras dejar de soportar otras funciones de idiomas y lenguajes diferentes a uno específico. </a:t>
            </a:r>
            <a:r>
              <a:rPr lang="en-US" dirty="0" err="1"/>
              <a:t>Luego</a:t>
            </a:r>
            <a:r>
              <a:rPr lang="en-US" dirty="0"/>
              <a:t> </a:t>
            </a:r>
            <a:r>
              <a:rPr lang="en-US" dirty="0" err="1"/>
              <a:t>hacemos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siguiente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4" name="Imagen 3" descr="1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752" y="1718372"/>
            <a:ext cx="4910454" cy="4107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8868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29375" y="189572"/>
            <a:ext cx="10178322" cy="3593591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En pantalla aparecerá el resumen de lo que se va a instalar: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6" name="Imagen 5" descr="1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645" y="893724"/>
            <a:ext cx="6442710" cy="5048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0979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84770" y="0"/>
            <a:ext cx="10178322" cy="3593591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Al hacer clic en siguiente se muestra una pantalla que indica que </a:t>
            </a:r>
            <a:r>
              <a:rPr lang="es-CO" dirty="0" err="1">
                <a:solidFill>
                  <a:schemeClr val="tx1"/>
                </a:solidFill>
              </a:rPr>
              <a:t>PostgreSQL</a:t>
            </a:r>
            <a:r>
              <a:rPr lang="es-CO" dirty="0">
                <a:solidFill>
                  <a:schemeClr val="tx1"/>
                </a:solidFill>
              </a:rPr>
              <a:t> está listo para instalar, al hacer clic de nuevo en siguiente iniciará la instalación, espera un par de minutos hasta que la aplicación termine.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s-CO" dirty="0">
                <a:solidFill>
                  <a:schemeClr val="tx1"/>
                </a:solidFill>
              </a:rPr>
              <a:t>Una vez terminada la instalación, aparecerá en pantalla un mensaje mostrando que </a:t>
            </a:r>
            <a:r>
              <a:rPr lang="es-CO" dirty="0" err="1">
                <a:solidFill>
                  <a:schemeClr val="tx1"/>
                </a:solidFill>
              </a:rPr>
              <a:t>PostgreSQL</a:t>
            </a:r>
            <a:r>
              <a:rPr lang="es-CO" dirty="0">
                <a:solidFill>
                  <a:schemeClr val="tx1"/>
                </a:solidFill>
              </a:rPr>
              <a:t> ha sido instalado correctamente</a:t>
            </a:r>
            <a:r>
              <a:rPr lang="es-CO" dirty="0" smtClean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4" name="Imagen 3" descr="1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064" y="1962614"/>
            <a:ext cx="4985074" cy="424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2977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2467" y="189571"/>
            <a:ext cx="10178322" cy="3593591"/>
          </a:xfrm>
        </p:spPr>
        <p:txBody>
          <a:bodyPr/>
          <a:lstStyle/>
          <a:p>
            <a:r>
              <a:rPr lang="es-CO" dirty="0" smtClean="0">
                <a:solidFill>
                  <a:schemeClr val="tx1"/>
                </a:solidFill>
              </a:rPr>
              <a:t>Podemos cerrar ésta pantalla y proceder a comprobar que todo quedó instalado correctamente.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s-CO" dirty="0" smtClean="0">
                <a:solidFill>
                  <a:schemeClr val="tx1"/>
                </a:solidFill>
              </a:rPr>
              <a:t>Vamos a buscar el programa </a:t>
            </a:r>
            <a:r>
              <a:rPr lang="es-CO" dirty="0" err="1" smtClean="0">
                <a:solidFill>
                  <a:schemeClr val="tx1"/>
                </a:solidFill>
              </a:rPr>
              <a:t>PgAdmin</a:t>
            </a:r>
            <a:r>
              <a:rPr lang="es-CO" dirty="0" smtClean="0">
                <a:solidFill>
                  <a:schemeClr val="tx1"/>
                </a:solidFill>
              </a:rPr>
              <a:t>, el cual usaremos como editor favorito para ejecutar en él todas las operaciones sobre nuestra base de datos.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s-CO" dirty="0" smtClean="0">
                <a:solidFill>
                  <a:schemeClr val="tx1"/>
                </a:solidFill>
              </a:rPr>
              <a:t>También vamos a buscar la consola… Tanto la consola como </a:t>
            </a:r>
            <a:r>
              <a:rPr lang="es-CO" dirty="0" err="1" smtClean="0">
                <a:solidFill>
                  <a:schemeClr val="tx1"/>
                </a:solidFill>
              </a:rPr>
              <a:t>PgAdmin</a:t>
            </a:r>
            <a:r>
              <a:rPr lang="es-CO" dirty="0" smtClean="0">
                <a:solidFill>
                  <a:schemeClr val="tx1"/>
                </a:solidFill>
              </a:rPr>
              <a:t> son útiles para gestionar nuestra base de datos, una nos permite ingresar comando por comandos y la otra nos ofrece una interfaz visual fácil de entender para realizar todas las operaciones.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s-CO" dirty="0" smtClean="0">
                <a:solidFill>
                  <a:schemeClr val="tx1"/>
                </a:solidFill>
              </a:rPr>
              <a:t>En el menú de Windows (o donde aparecen instalados todos los programas) buscamos “</a:t>
            </a:r>
            <a:r>
              <a:rPr lang="es-CO" dirty="0" err="1" smtClean="0">
                <a:solidFill>
                  <a:schemeClr val="tx1"/>
                </a:solidFill>
              </a:rPr>
              <a:t>PgAdmin</a:t>
            </a:r>
            <a:r>
              <a:rPr lang="es-CO" dirty="0" smtClean="0">
                <a:solidFill>
                  <a:schemeClr val="tx1"/>
                </a:solidFill>
              </a:rPr>
              <a:t>…”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34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796" y="793718"/>
            <a:ext cx="5722472" cy="431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79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84771" y="814040"/>
            <a:ext cx="10178322" cy="3593591"/>
          </a:xfrm>
        </p:spPr>
        <p:txBody>
          <a:bodyPr/>
          <a:lstStyle/>
          <a:p>
            <a:r>
              <a:rPr lang="en-US" dirty="0" err="1"/>
              <a:t>Ahora</a:t>
            </a:r>
            <a:r>
              <a:rPr lang="en-US" dirty="0"/>
              <a:t> </a:t>
            </a:r>
            <a:r>
              <a:rPr lang="en-US" dirty="0" err="1"/>
              <a:t>buscamos</a:t>
            </a:r>
            <a:r>
              <a:rPr lang="en-US" dirty="0"/>
              <a:t> “SQL Shell…”</a:t>
            </a:r>
          </a:p>
          <a:p>
            <a:endParaRPr lang="en-US" dirty="0"/>
          </a:p>
        </p:txBody>
      </p:sp>
      <p:pic>
        <p:nvPicPr>
          <p:cNvPr id="4" name="Imagen 3" descr="15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795" y="1608765"/>
            <a:ext cx="5309985" cy="378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456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51317" y="78060"/>
            <a:ext cx="10178322" cy="3593591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Efectivamente, ahora aparecen las herramientas que vamos a utilizar en éste curso.</a:t>
            </a:r>
            <a:br>
              <a:rPr lang="es-CO" dirty="0">
                <a:solidFill>
                  <a:schemeClr val="tx1"/>
                </a:solidFill>
              </a:rPr>
            </a:br>
            <a:r>
              <a:rPr lang="es-CO" dirty="0">
                <a:solidFill>
                  <a:schemeClr val="tx1"/>
                </a:solidFill>
              </a:rPr>
              <a:t>Ahora vamos a crear una base de datos de prueba usando la consola y comprobaremos si existe usando </a:t>
            </a:r>
            <a:r>
              <a:rPr lang="es-CO" dirty="0" err="1">
                <a:solidFill>
                  <a:schemeClr val="tx1"/>
                </a:solidFill>
              </a:rPr>
              <a:t>PgAdmin</a:t>
            </a:r>
            <a:r>
              <a:rPr lang="es-CO" dirty="0">
                <a:solidFill>
                  <a:schemeClr val="tx1"/>
                </a:solidFill>
              </a:rPr>
              <a:t>, la crearemos para validar que la conexión con el servicio de base de datos interno funciona correctamente.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s-CO" dirty="0">
                <a:solidFill>
                  <a:schemeClr val="tx1"/>
                </a:solidFill>
              </a:rPr>
              <a:t>Para ello abrimos la consola, buscamos SQL Shell y lo ejecutamos. </a:t>
            </a:r>
            <a:r>
              <a:rPr lang="en-US" dirty="0" err="1">
                <a:solidFill>
                  <a:schemeClr val="tx1"/>
                </a:solidFill>
              </a:rPr>
              <a:t>Veremos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algo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así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/>
          </a:p>
        </p:txBody>
      </p:sp>
      <p:pic>
        <p:nvPicPr>
          <p:cNvPr id="4" name="Imagen 3" descr="16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413" y="2004776"/>
            <a:ext cx="5866130" cy="3333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5233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39804" y="0"/>
            <a:ext cx="10178322" cy="3593591"/>
          </a:xfrm>
        </p:spPr>
        <p:txBody>
          <a:bodyPr>
            <a:normAutofit lnSpcReduction="10000"/>
          </a:bodyPr>
          <a:lstStyle/>
          <a:p>
            <a:r>
              <a:rPr lang="es-CO" dirty="0">
                <a:solidFill>
                  <a:schemeClr val="tx1"/>
                </a:solidFill>
              </a:rPr>
              <a:t>Lo que vemos en pantalla es la consola esperando que ingresemos cada parámetro para la conexión.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s-CO" dirty="0">
                <a:solidFill>
                  <a:schemeClr val="tx1"/>
                </a:solidFill>
              </a:rPr>
              <a:t>Primero está el nombre del parámetro. En éste caso es “Server” seguido de unos corchetes que contienen el valor predeterminado. Si presionamos “</a:t>
            </a:r>
            <a:r>
              <a:rPr lang="es-CO" dirty="0" err="1">
                <a:solidFill>
                  <a:schemeClr val="tx1"/>
                </a:solidFill>
              </a:rPr>
              <a:t>Enter</a:t>
            </a:r>
            <a:r>
              <a:rPr lang="es-CO" dirty="0">
                <a:solidFill>
                  <a:schemeClr val="tx1"/>
                </a:solidFill>
              </a:rPr>
              <a:t>” sin digitar nada la consola asumirá que te refieres al valor predeterminado, si en éste caso presionamos “</a:t>
            </a:r>
            <a:r>
              <a:rPr lang="es-CO" dirty="0" err="1">
                <a:solidFill>
                  <a:schemeClr val="tx1"/>
                </a:solidFill>
              </a:rPr>
              <a:t>Enter</a:t>
            </a:r>
            <a:r>
              <a:rPr lang="es-CO" dirty="0">
                <a:solidFill>
                  <a:schemeClr val="tx1"/>
                </a:solidFill>
              </a:rPr>
              <a:t>” el valor asumido será “</a:t>
            </a:r>
            <a:r>
              <a:rPr lang="es-CO" dirty="0" err="1">
                <a:solidFill>
                  <a:schemeClr val="tx1"/>
                </a:solidFill>
              </a:rPr>
              <a:t>Localhost</a:t>
            </a:r>
            <a:r>
              <a:rPr lang="es-CO" dirty="0">
                <a:solidFill>
                  <a:schemeClr val="tx1"/>
                </a:solidFill>
              </a:rPr>
              <a:t>”. </a:t>
            </a:r>
            <a:r>
              <a:rPr lang="es-CO" dirty="0" err="1">
                <a:solidFill>
                  <a:schemeClr val="tx1"/>
                </a:solidFill>
              </a:rPr>
              <a:t>Localhost</a:t>
            </a:r>
            <a:r>
              <a:rPr lang="es-CO" dirty="0">
                <a:solidFill>
                  <a:schemeClr val="tx1"/>
                </a:solidFill>
              </a:rPr>
              <a:t> se refiere a nuestra propia máquina, si instalaste la base de datos en el mismo pc que estás usando para la consola, el valor correcto es </a:t>
            </a:r>
            <a:r>
              <a:rPr lang="es-CO" dirty="0" err="1">
                <a:solidFill>
                  <a:schemeClr val="tx1"/>
                </a:solidFill>
              </a:rPr>
              <a:t>Localhost</a:t>
            </a:r>
            <a:r>
              <a:rPr lang="es-CO" dirty="0">
                <a:solidFill>
                  <a:schemeClr val="tx1"/>
                </a:solidFill>
              </a:rPr>
              <a:t> o 127.0.0.1 (representan lo mismo).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s-CO" dirty="0">
                <a:solidFill>
                  <a:schemeClr val="tx1"/>
                </a:solidFill>
              </a:rPr>
              <a:t>Podemos dejar todos los valores predeterminados (presionando “</a:t>
            </a:r>
            <a:r>
              <a:rPr lang="es-CO" dirty="0" err="1">
                <a:solidFill>
                  <a:schemeClr val="tx1"/>
                </a:solidFill>
              </a:rPr>
              <a:t>Enter</a:t>
            </a:r>
            <a:r>
              <a:rPr lang="es-CO" dirty="0">
                <a:solidFill>
                  <a:schemeClr val="tx1"/>
                </a:solidFill>
              </a:rPr>
              <a:t>”) hasta que la consola pregunte por la clave del usuario maestro: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4" name="Imagen 3" descr="17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483" y="3334215"/>
            <a:ext cx="5449809" cy="23365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037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9444" y="200723"/>
            <a:ext cx="10178322" cy="3593591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Debemos ingresar la clave que usamos cuando estábamos instalando </a:t>
            </a:r>
            <a:r>
              <a:rPr lang="es-MX" dirty="0" err="1">
                <a:solidFill>
                  <a:schemeClr val="tx1"/>
                </a:solidFill>
              </a:rPr>
              <a:t>Postgres</a:t>
            </a:r>
            <a:r>
              <a:rPr lang="es-MX" dirty="0">
                <a:solidFill>
                  <a:schemeClr val="tx1"/>
                </a:solidFill>
              </a:rPr>
              <a:t>, de lo contrario no podremos acceder. Presionamos </a:t>
            </a:r>
            <a:r>
              <a:rPr lang="es-MX" dirty="0" err="1">
                <a:solidFill>
                  <a:schemeClr val="tx1"/>
                </a:solidFill>
              </a:rPr>
              <a:t>Enter</a:t>
            </a:r>
            <a:r>
              <a:rPr lang="es-MX" dirty="0">
                <a:solidFill>
                  <a:schemeClr val="tx1"/>
                </a:solidFill>
              </a:rPr>
              <a:t> y veremos a continuación una pantalla que nos indica que estamos </a:t>
            </a:r>
            <a:r>
              <a:rPr lang="es-MX" dirty="0" err="1">
                <a:solidFill>
                  <a:schemeClr val="tx1"/>
                </a:solidFill>
              </a:rPr>
              <a:t>logueados</a:t>
            </a:r>
            <a:r>
              <a:rPr lang="es-MX" dirty="0">
                <a:solidFill>
                  <a:schemeClr val="tx1"/>
                </a:solidFill>
              </a:rPr>
              <a:t> en la base de datos y estamos listos para hacer modificaciones.</a:t>
            </a:r>
          </a:p>
          <a:p>
            <a:r>
              <a:rPr lang="es-MX" dirty="0">
                <a:solidFill>
                  <a:schemeClr val="tx1"/>
                </a:solidFill>
              </a:rPr>
              <a:t>De manera predeterminada, la base de datos instalada es </a:t>
            </a:r>
            <a:r>
              <a:rPr lang="es-MX" dirty="0" err="1">
                <a:solidFill>
                  <a:schemeClr val="tx1"/>
                </a:solidFill>
              </a:rPr>
              <a:t>Postgres</a:t>
            </a:r>
            <a:r>
              <a:rPr lang="es-MX" dirty="0">
                <a:solidFill>
                  <a:schemeClr val="tx1"/>
                </a:solidFill>
              </a:rPr>
              <a:t>, la cual no debemos tocar, ya que ejecuta funciones propias del motor. Es usada por el Motor de </a:t>
            </a:r>
            <a:r>
              <a:rPr lang="es-MX" dirty="0" err="1">
                <a:solidFill>
                  <a:schemeClr val="tx1"/>
                </a:solidFill>
              </a:rPr>
              <a:t>PostgreSQL</a:t>
            </a:r>
            <a:r>
              <a:rPr lang="es-MX" dirty="0">
                <a:solidFill>
                  <a:schemeClr val="tx1"/>
                </a:solidFill>
              </a:rPr>
              <a:t> para interactuar con todas las bases de datos que vayamos a crear en el futuro.</a:t>
            </a:r>
          </a:p>
          <a:p>
            <a:r>
              <a:rPr lang="es-MX" dirty="0">
                <a:solidFill>
                  <a:schemeClr val="tx1"/>
                </a:solidFill>
              </a:rPr>
              <a:t>La siguiente imagen indica que estamos conectados a la base de datos </a:t>
            </a:r>
            <a:r>
              <a:rPr lang="es-MX" dirty="0" err="1">
                <a:solidFill>
                  <a:schemeClr val="tx1"/>
                </a:solidFill>
              </a:rPr>
              <a:t>Postgres</a:t>
            </a:r>
            <a:r>
              <a:rPr lang="es-MX" dirty="0">
                <a:solidFill>
                  <a:schemeClr val="tx1"/>
                </a:solidFill>
              </a:rPr>
              <a:t>. Vamos a crear una base de datos nueva y luego saltar el cursor a ésta base de datos recién creada.</a:t>
            </a:r>
          </a:p>
          <a:p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171" y="3148702"/>
            <a:ext cx="4772021" cy="249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68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73980" y="356840"/>
            <a:ext cx="10178322" cy="3593591"/>
          </a:xfrm>
        </p:spPr>
        <p:txBody>
          <a:bodyPr/>
          <a:lstStyle/>
          <a:p>
            <a:r>
              <a:rPr lang="es-MX" dirty="0" smtClean="0">
                <a:solidFill>
                  <a:schemeClr val="tx1"/>
                </a:solidFill>
              </a:rPr>
              <a:t>Para ello escribimos el comando “CREATE DATABASE </a:t>
            </a:r>
            <a:r>
              <a:rPr lang="es-MX" dirty="0" err="1" smtClean="0">
                <a:solidFill>
                  <a:schemeClr val="tx1"/>
                </a:solidFill>
              </a:rPr>
              <a:t>transporte_publico</a:t>
            </a:r>
            <a:r>
              <a:rPr lang="es-MX" dirty="0" smtClean="0">
                <a:solidFill>
                  <a:schemeClr val="tx1"/>
                </a:solidFill>
              </a:rPr>
              <a:t>;” y presionamos “</a:t>
            </a:r>
            <a:r>
              <a:rPr lang="es-MX" dirty="0" err="1" smtClean="0">
                <a:solidFill>
                  <a:schemeClr val="tx1"/>
                </a:solidFill>
              </a:rPr>
              <a:t>Enter</a:t>
            </a:r>
            <a:r>
              <a:rPr lang="es-MX" dirty="0" smtClean="0">
                <a:solidFill>
                  <a:schemeClr val="tx1"/>
                </a:solidFill>
              </a:rPr>
              <a:t>”. Veremos: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788" y="1537031"/>
            <a:ext cx="7210558" cy="377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82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2107" y="356840"/>
            <a:ext cx="10178322" cy="3593591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El mensaje “CREATE DATABASE” justo después de la línea que acabamos de escribir indica que la base de datos fue creada correctamente.</a:t>
            </a:r>
          </a:p>
          <a:p>
            <a:r>
              <a:rPr lang="es-MX" dirty="0">
                <a:solidFill>
                  <a:schemeClr val="tx1"/>
                </a:solidFill>
              </a:rPr>
              <a:t>Para saltar a la base de datos recién creada ejecutamos el comando “\c </a:t>
            </a:r>
            <a:r>
              <a:rPr lang="es-MX" dirty="0" err="1">
                <a:solidFill>
                  <a:schemeClr val="tx1"/>
                </a:solidFill>
              </a:rPr>
              <a:t>transporte_publico</a:t>
            </a:r>
            <a:r>
              <a:rPr lang="es-MX" dirty="0">
                <a:solidFill>
                  <a:schemeClr val="tx1"/>
                </a:solidFill>
              </a:rPr>
              <a:t>”, el cursor mostrará lo siguiente:</a:t>
            </a:r>
          </a:p>
          <a:p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409" y="2153635"/>
            <a:ext cx="7169151" cy="374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343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73258" y="178421"/>
            <a:ext cx="10178322" cy="3593591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Ahora vamos a validar desde </a:t>
            </a:r>
            <a:r>
              <a:rPr lang="es-MX" dirty="0" err="1">
                <a:solidFill>
                  <a:schemeClr val="tx1"/>
                </a:solidFill>
              </a:rPr>
              <a:t>PgAdmin</a:t>
            </a:r>
            <a:r>
              <a:rPr lang="es-MX" dirty="0">
                <a:solidFill>
                  <a:schemeClr val="tx1"/>
                </a:solidFill>
              </a:rPr>
              <a:t> que la base de datos </a:t>
            </a:r>
            <a:r>
              <a:rPr lang="es-MX" dirty="0" err="1">
                <a:solidFill>
                  <a:schemeClr val="tx1"/>
                </a:solidFill>
              </a:rPr>
              <a:t>fué</a:t>
            </a:r>
            <a:r>
              <a:rPr lang="es-MX" dirty="0">
                <a:solidFill>
                  <a:schemeClr val="tx1"/>
                </a:solidFill>
              </a:rPr>
              <a:t> creada correctamente. Abrimos </a:t>
            </a:r>
            <a:r>
              <a:rPr lang="es-MX" dirty="0" err="1">
                <a:solidFill>
                  <a:schemeClr val="tx1"/>
                </a:solidFill>
              </a:rPr>
              <a:t>PgAdmin</a:t>
            </a:r>
            <a:r>
              <a:rPr lang="es-MX" dirty="0">
                <a:solidFill>
                  <a:schemeClr val="tx1"/>
                </a:solidFill>
              </a:rPr>
              <a:t> y nos encontramos con una lista de </a:t>
            </a:r>
            <a:r>
              <a:rPr lang="es-MX" dirty="0" err="1">
                <a:solidFill>
                  <a:schemeClr val="tx1"/>
                </a:solidFill>
              </a:rPr>
              <a:t>items</a:t>
            </a:r>
            <a:r>
              <a:rPr lang="es-MX" dirty="0">
                <a:solidFill>
                  <a:schemeClr val="tx1"/>
                </a:solidFill>
              </a:rPr>
              <a:t> a la izquierda, lo que significa que de manera predeterminada </a:t>
            </a:r>
            <a:r>
              <a:rPr lang="es-MX" dirty="0" err="1">
                <a:solidFill>
                  <a:schemeClr val="tx1"/>
                </a:solidFill>
              </a:rPr>
              <a:t>PgAdmin</a:t>
            </a:r>
            <a:r>
              <a:rPr lang="es-MX" dirty="0">
                <a:solidFill>
                  <a:schemeClr val="tx1"/>
                </a:solidFill>
              </a:rPr>
              <a:t> ha creado un acceso a nuestra base de datos local, el cual llamó “</a:t>
            </a:r>
            <a:r>
              <a:rPr lang="es-MX" dirty="0" err="1">
                <a:solidFill>
                  <a:schemeClr val="tx1"/>
                </a:solidFill>
              </a:rPr>
              <a:t>PostgreSQL</a:t>
            </a:r>
            <a:r>
              <a:rPr lang="es-MX" dirty="0">
                <a:solidFill>
                  <a:schemeClr val="tx1"/>
                </a:solidFill>
              </a:rPr>
              <a:t> 11”: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572" y="2166826"/>
            <a:ext cx="4630302" cy="219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65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5561" y="156118"/>
            <a:ext cx="10178322" cy="3593591"/>
          </a:xfrm>
        </p:spPr>
        <p:txBody>
          <a:bodyPr/>
          <a:lstStyle/>
          <a:p>
            <a:r>
              <a:rPr lang="es-MX" dirty="0" smtClean="0">
                <a:solidFill>
                  <a:schemeClr val="tx1"/>
                </a:solidFill>
              </a:rPr>
              <a:t>Al hacer </a:t>
            </a:r>
            <a:r>
              <a:rPr lang="es-MX" dirty="0" err="1" smtClean="0">
                <a:solidFill>
                  <a:schemeClr val="tx1"/>
                </a:solidFill>
              </a:rPr>
              <a:t>hacer</a:t>
            </a:r>
            <a:r>
              <a:rPr lang="es-MX" dirty="0" smtClean="0">
                <a:solidFill>
                  <a:schemeClr val="tx1"/>
                </a:solidFill>
              </a:rPr>
              <a:t> doble clic sobre éste elemento (“</a:t>
            </a:r>
            <a:r>
              <a:rPr lang="es-MX" dirty="0" err="1" smtClean="0">
                <a:solidFill>
                  <a:schemeClr val="tx1"/>
                </a:solidFill>
              </a:rPr>
              <a:t>PostgreSQL</a:t>
            </a:r>
            <a:r>
              <a:rPr lang="es-MX" dirty="0" smtClean="0">
                <a:solidFill>
                  <a:schemeClr val="tx1"/>
                </a:solidFill>
              </a:rPr>
              <a:t> 11”) nos pedirá ingresar la clave que hemos determinado para el </a:t>
            </a:r>
            <a:r>
              <a:rPr lang="es-MX" dirty="0" err="1" smtClean="0">
                <a:solidFill>
                  <a:schemeClr val="tx1"/>
                </a:solidFill>
              </a:rPr>
              <a:t>super</a:t>
            </a:r>
            <a:r>
              <a:rPr lang="es-MX" dirty="0" smtClean="0">
                <a:solidFill>
                  <a:schemeClr val="tx1"/>
                </a:solidFill>
              </a:rPr>
              <a:t> usuario </a:t>
            </a:r>
            <a:r>
              <a:rPr lang="es-MX" dirty="0" err="1" smtClean="0">
                <a:solidFill>
                  <a:schemeClr val="tx1"/>
                </a:solidFill>
              </a:rPr>
              <a:t>postgres</a:t>
            </a:r>
            <a:r>
              <a:rPr lang="es-MX" dirty="0" smtClean="0">
                <a:solidFill>
                  <a:schemeClr val="tx1"/>
                </a:solidFill>
              </a:rPr>
              <a:t>, al igual que la consola, hasta no ingresarla correctamente no nos podremos conectar: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702" y="1445221"/>
            <a:ext cx="5809992" cy="230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50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2469" y="379142"/>
            <a:ext cx="10178322" cy="3593591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Ingresamos la clave. Te recomiendo seleccionar la opción “</a:t>
            </a:r>
            <a:r>
              <a:rPr lang="es-MX" dirty="0" err="1">
                <a:solidFill>
                  <a:schemeClr val="tx1"/>
                </a:solidFill>
              </a:rPr>
              <a:t>Save</a:t>
            </a:r>
            <a:r>
              <a:rPr lang="es-MX" dirty="0">
                <a:solidFill>
                  <a:schemeClr val="tx1"/>
                </a:solidFill>
              </a:rPr>
              <a:t> </a:t>
            </a:r>
            <a:r>
              <a:rPr lang="es-MX" dirty="0" err="1">
                <a:solidFill>
                  <a:schemeClr val="tx1"/>
                </a:solidFill>
              </a:rPr>
              <a:t>Password</a:t>
            </a:r>
            <a:r>
              <a:rPr lang="es-MX" dirty="0">
                <a:solidFill>
                  <a:schemeClr val="tx1"/>
                </a:solidFill>
              </a:rPr>
              <a:t>” o “Guardar Contraseña”. Si la máquina sobre la que estás trabajando es de confianza, que seas sólo tú o tu equipo quien tenga acceso a ella, de lo contrario, no guardes la contraseña para mantenerla segura.</a:t>
            </a:r>
          </a:p>
          <a:p>
            <a:r>
              <a:rPr lang="es-MX" dirty="0">
                <a:solidFill>
                  <a:schemeClr val="tx1"/>
                </a:solidFill>
              </a:rPr>
              <a:t>Veremos la lista de bases de datos disponibles, la predeterminada “</a:t>
            </a:r>
            <a:r>
              <a:rPr lang="es-MX" dirty="0" err="1">
                <a:solidFill>
                  <a:schemeClr val="tx1"/>
                </a:solidFill>
              </a:rPr>
              <a:t>postgres</a:t>
            </a:r>
            <a:r>
              <a:rPr lang="es-MX" dirty="0">
                <a:solidFill>
                  <a:schemeClr val="tx1"/>
                </a:solidFill>
              </a:rPr>
              <a:t>” y la que acabamos de crear usando la consola, lo que comprueba que la base de datos y la consola funcionan correctamente.</a:t>
            </a:r>
          </a:p>
          <a:p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703" y="2973997"/>
            <a:ext cx="3743268" cy="24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95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579863"/>
            <a:ext cx="9620761" cy="5299729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Ahora procedemos a eliminar la base de datos recién creada para comprobar que </a:t>
            </a:r>
            <a:r>
              <a:rPr lang="es-MX" dirty="0" err="1">
                <a:solidFill>
                  <a:schemeClr val="tx1"/>
                </a:solidFill>
              </a:rPr>
              <a:t>PgAdmin</a:t>
            </a:r>
            <a:r>
              <a:rPr lang="es-MX" dirty="0">
                <a:solidFill>
                  <a:schemeClr val="tx1"/>
                </a:solidFill>
              </a:rPr>
              <a:t> está correctamente configurada y si pueda realizar cambios sobre la base de datos.</a:t>
            </a:r>
          </a:p>
          <a:p>
            <a:r>
              <a:rPr lang="es-MX" dirty="0">
                <a:solidFill>
                  <a:schemeClr val="tx1"/>
                </a:solidFill>
              </a:rPr>
              <a:t>Para ello hacemos clic derecho sobre el elemento “</a:t>
            </a:r>
            <a:r>
              <a:rPr lang="es-MX" dirty="0" err="1">
                <a:solidFill>
                  <a:schemeClr val="tx1"/>
                </a:solidFill>
              </a:rPr>
              <a:t>transporte_publico</a:t>
            </a:r>
            <a:r>
              <a:rPr lang="es-MX" dirty="0">
                <a:solidFill>
                  <a:schemeClr val="tx1"/>
                </a:solidFill>
              </a:rPr>
              <a:t>” y seleccionamos la opción “</a:t>
            </a:r>
            <a:r>
              <a:rPr lang="es-MX" dirty="0" err="1">
                <a:solidFill>
                  <a:schemeClr val="tx1"/>
                </a:solidFill>
              </a:rPr>
              <a:t>Delete</a:t>
            </a:r>
            <a:r>
              <a:rPr lang="es-MX" dirty="0">
                <a:solidFill>
                  <a:schemeClr val="tx1"/>
                </a:solidFill>
              </a:rPr>
              <a:t>/</a:t>
            </a:r>
            <a:r>
              <a:rPr lang="es-MX" dirty="0" err="1">
                <a:solidFill>
                  <a:schemeClr val="tx1"/>
                </a:solidFill>
              </a:rPr>
              <a:t>Drop</a:t>
            </a:r>
            <a:r>
              <a:rPr lang="es-MX" dirty="0">
                <a:solidFill>
                  <a:schemeClr val="tx1"/>
                </a:solidFill>
              </a:rPr>
              <a:t>”. Al mensaje de confirmar hacemos clic en OK.</a:t>
            </a:r>
          </a:p>
          <a:p>
            <a:r>
              <a:rPr lang="es-MX" dirty="0">
                <a:solidFill>
                  <a:schemeClr val="tx1"/>
                </a:solidFill>
              </a:rPr>
              <a:t>Con ello, si el elemento “</a:t>
            </a:r>
            <a:r>
              <a:rPr lang="es-MX" dirty="0" err="1">
                <a:solidFill>
                  <a:schemeClr val="tx1"/>
                </a:solidFill>
              </a:rPr>
              <a:t>transporte_publico</a:t>
            </a:r>
            <a:r>
              <a:rPr lang="es-MX" dirty="0">
                <a:solidFill>
                  <a:schemeClr val="tx1"/>
                </a:solidFill>
              </a:rPr>
              <a:t>” desaparece del menú de la izquierda comprobamos que </a:t>
            </a:r>
            <a:r>
              <a:rPr lang="es-MX" dirty="0" err="1">
                <a:solidFill>
                  <a:schemeClr val="tx1"/>
                </a:solidFill>
              </a:rPr>
              <a:t>PgAdmin</a:t>
            </a:r>
            <a:r>
              <a:rPr lang="es-MX" dirty="0">
                <a:solidFill>
                  <a:schemeClr val="tx1"/>
                </a:solidFill>
              </a:rPr>
              <a:t> funcionan correctamente.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462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78522" y="864212"/>
            <a:ext cx="10318418" cy="4394988"/>
          </a:xfrm>
        </p:spPr>
        <p:txBody>
          <a:bodyPr/>
          <a:lstStyle/>
          <a:p>
            <a:r>
              <a:rPr lang="es-CO" sz="9600" dirty="0"/>
              <a:t>INSTALACION DE NETBEANS 8.2 </a:t>
            </a:r>
            <a:r>
              <a:rPr lang="es-CO" sz="9600" dirty="0" smtClean="0"/>
              <a:t>y JDK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202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51678" y="202276"/>
            <a:ext cx="10178322" cy="476597"/>
          </a:xfrm>
        </p:spPr>
        <p:txBody>
          <a:bodyPr>
            <a:noAutofit/>
          </a:bodyPr>
          <a:lstStyle/>
          <a:p>
            <a:pPr algn="ctr"/>
            <a:r>
              <a:rPr lang="es-ES" sz="4000" dirty="0" smtClean="0"/>
              <a:t>REQUISITOS: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3" y="1524000"/>
            <a:ext cx="10751127" cy="5126181"/>
          </a:xfrm>
        </p:spPr>
        <p:txBody>
          <a:bodyPr/>
          <a:lstStyle/>
          <a:p>
            <a:pPr marL="0" indent="0" fontAlgn="base">
              <a:buNone/>
            </a:pPr>
            <a:r>
              <a:rPr lang="es-ES" b="1" dirty="0">
                <a:solidFill>
                  <a:schemeClr val="tx1"/>
                </a:solidFill>
              </a:rPr>
              <a:t>Requisitos del </a:t>
            </a:r>
            <a:r>
              <a:rPr lang="es-ES" b="1" dirty="0" smtClean="0">
                <a:solidFill>
                  <a:schemeClr val="tx1"/>
                </a:solidFill>
              </a:rPr>
              <a:t>sistema:</a:t>
            </a:r>
            <a:endParaRPr lang="es-ES" b="1" dirty="0">
              <a:solidFill>
                <a:schemeClr val="tx1"/>
              </a:solidFill>
            </a:endParaRPr>
          </a:p>
          <a:p>
            <a:pPr fontAlgn="base"/>
            <a:r>
              <a:rPr lang="es-ES" dirty="0">
                <a:solidFill>
                  <a:schemeClr val="tx1"/>
                </a:solidFill>
              </a:rPr>
              <a:t> Sistema operativo </a:t>
            </a:r>
            <a:r>
              <a:rPr lang="es-ES" dirty="0" err="1">
                <a:solidFill>
                  <a:schemeClr val="tx1"/>
                </a:solidFill>
              </a:rPr>
              <a:t>windows</a:t>
            </a:r>
            <a:r>
              <a:rPr lang="es-ES" dirty="0">
                <a:solidFill>
                  <a:schemeClr val="tx1"/>
                </a:solidFill>
              </a:rPr>
              <a:t>, versiones superiores a </a:t>
            </a:r>
            <a:r>
              <a:rPr lang="es-ES" dirty="0" err="1">
                <a:solidFill>
                  <a:schemeClr val="tx1"/>
                </a:solidFill>
              </a:rPr>
              <a:t>windows</a:t>
            </a:r>
            <a:r>
              <a:rPr lang="es-ES" dirty="0">
                <a:solidFill>
                  <a:schemeClr val="tx1"/>
                </a:solidFill>
              </a:rPr>
              <a:t> 7.</a:t>
            </a:r>
          </a:p>
          <a:p>
            <a:pPr fontAlgn="base"/>
            <a:r>
              <a:rPr lang="es-ES" dirty="0">
                <a:solidFill>
                  <a:schemeClr val="tx1"/>
                </a:solidFill>
              </a:rPr>
              <a:t> 4 GB de memoria del sistema (RAM).</a:t>
            </a:r>
          </a:p>
          <a:p>
            <a:pPr fontAlgn="base"/>
            <a:r>
              <a:rPr lang="es-ES" dirty="0">
                <a:solidFill>
                  <a:schemeClr val="tx1"/>
                </a:solidFill>
              </a:rPr>
              <a:t> Disco duro con 10 GB de espacio libre</a:t>
            </a:r>
            <a:r>
              <a:rPr lang="es-ES" dirty="0" smtClean="0">
                <a:solidFill>
                  <a:schemeClr val="tx1"/>
                </a:solidFill>
              </a:rPr>
              <a:t>.</a:t>
            </a:r>
          </a:p>
          <a:p>
            <a:pPr marL="0" indent="0" fontAlgn="base">
              <a:buNone/>
            </a:pPr>
            <a:endParaRPr lang="es-ES" dirty="0">
              <a:solidFill>
                <a:schemeClr val="tx1"/>
              </a:solidFill>
            </a:endParaRPr>
          </a:p>
          <a:p>
            <a:pPr marL="0" indent="0" fontAlgn="base">
              <a:buNone/>
            </a:pPr>
            <a:r>
              <a:rPr lang="es-ES" b="1" dirty="0" smtClean="0">
                <a:solidFill>
                  <a:schemeClr val="tx1"/>
                </a:solidFill>
              </a:rPr>
              <a:t>Preparación:</a:t>
            </a:r>
            <a:endParaRPr lang="es-ES" b="1" dirty="0">
              <a:solidFill>
                <a:schemeClr val="tx1"/>
              </a:solidFill>
            </a:endParaRPr>
          </a:p>
          <a:p>
            <a:pPr fontAlgn="base"/>
            <a:r>
              <a:rPr lang="es-ES" dirty="0">
                <a:solidFill>
                  <a:schemeClr val="tx1"/>
                </a:solidFill>
              </a:rPr>
              <a:t>Descargar instalador JDK ultima versión de </a:t>
            </a:r>
            <a:r>
              <a:rPr lang="es-ES" u="sng" dirty="0">
                <a:solidFill>
                  <a:schemeClr val="tx1"/>
                </a:solidFill>
                <a:hlinkClick r:id="rId2"/>
              </a:rPr>
              <a:t>https://www.oracle.com/technetwork/java/javase/downloads/jdk8-downloads-2133151.html</a:t>
            </a:r>
            <a:endParaRPr lang="es-ES" dirty="0">
              <a:solidFill>
                <a:schemeClr val="tx1"/>
              </a:solidFill>
            </a:endParaRPr>
          </a:p>
          <a:p>
            <a:pPr fontAlgn="base"/>
            <a:r>
              <a:rPr lang="es-ES" dirty="0">
                <a:solidFill>
                  <a:schemeClr val="tx1"/>
                </a:solidFill>
              </a:rPr>
              <a:t>Descargar instalador de </a:t>
            </a:r>
            <a:r>
              <a:rPr lang="es-ES" dirty="0" err="1">
                <a:solidFill>
                  <a:schemeClr val="tx1"/>
                </a:solidFill>
              </a:rPr>
              <a:t>Netbeans</a:t>
            </a:r>
            <a:r>
              <a:rPr lang="es-ES" dirty="0">
                <a:solidFill>
                  <a:schemeClr val="tx1"/>
                </a:solidFill>
              </a:rPr>
              <a:t> ultima versión full 8.2 de </a:t>
            </a:r>
            <a:r>
              <a:rPr lang="es-ES" u="sng" dirty="0">
                <a:solidFill>
                  <a:schemeClr val="tx1"/>
                </a:solidFill>
                <a:hlinkClick r:id="rId3"/>
              </a:rPr>
              <a:t>https://netbeans.org/downloads/8.2/</a:t>
            </a:r>
            <a:endParaRPr lang="es-E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3523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138545"/>
            <a:ext cx="10681854" cy="6539346"/>
          </a:xfrm>
        </p:spPr>
        <p:txBody>
          <a:bodyPr/>
          <a:lstStyle/>
          <a:p>
            <a:pPr algn="just" fontAlgn="base"/>
            <a:r>
              <a:rPr lang="es-ES" b="1" dirty="0">
                <a:solidFill>
                  <a:srgbClr val="FF0000"/>
                </a:solidFill>
              </a:rPr>
              <a:t>Paso 1. Descargar e instalar JDK.</a:t>
            </a:r>
          </a:p>
          <a:p>
            <a:pPr marL="0" indent="0" algn="just" fontAlgn="base">
              <a:buNone/>
            </a:pPr>
            <a:r>
              <a:rPr lang="es-ES" dirty="0">
                <a:solidFill>
                  <a:schemeClr val="tx1"/>
                </a:solidFill>
              </a:rPr>
              <a:t>Antes de comenzar la instalación de </a:t>
            </a:r>
            <a:r>
              <a:rPr lang="es-ES" dirty="0" err="1">
                <a:solidFill>
                  <a:schemeClr val="tx1"/>
                </a:solidFill>
              </a:rPr>
              <a:t>Netbeans</a:t>
            </a:r>
            <a:r>
              <a:rPr lang="es-ES" dirty="0">
                <a:solidFill>
                  <a:schemeClr val="tx1"/>
                </a:solidFill>
              </a:rPr>
              <a:t> tendremos que instalar el </a:t>
            </a:r>
            <a:r>
              <a:rPr lang="es-ES" b="1" dirty="0">
                <a:solidFill>
                  <a:schemeClr val="tx1"/>
                </a:solidFill>
              </a:rPr>
              <a:t>JDK</a:t>
            </a:r>
            <a:r>
              <a:rPr lang="es-ES" dirty="0">
                <a:solidFill>
                  <a:schemeClr val="tx1"/>
                </a:solidFill>
              </a:rPr>
              <a:t> o </a:t>
            </a:r>
            <a:r>
              <a:rPr lang="es-ES" b="1" dirty="0">
                <a:solidFill>
                  <a:schemeClr val="tx1"/>
                </a:solidFill>
              </a:rPr>
              <a:t>Java </a:t>
            </a:r>
            <a:r>
              <a:rPr lang="es-ES" b="1" dirty="0" err="1">
                <a:solidFill>
                  <a:schemeClr val="tx1"/>
                </a:solidFill>
              </a:rPr>
              <a:t>Development</a:t>
            </a:r>
            <a:r>
              <a:rPr lang="es-ES" b="1" dirty="0">
                <a:solidFill>
                  <a:schemeClr val="tx1"/>
                </a:solidFill>
              </a:rPr>
              <a:t> Kit</a:t>
            </a:r>
            <a:r>
              <a:rPr lang="es-ES" dirty="0">
                <a:solidFill>
                  <a:schemeClr val="tx1"/>
                </a:solidFill>
              </a:rPr>
              <a:t>, si queremos desarrollar programas con el lenguaje de programación JAVA. Este Kit nos provee de un conjunto de herramientas para el desarrollo de software.</a:t>
            </a:r>
          </a:p>
          <a:p>
            <a:pPr marL="0" indent="0" algn="just" fontAlgn="base">
              <a:buNone/>
            </a:pPr>
            <a:r>
              <a:rPr lang="es-ES" dirty="0">
                <a:solidFill>
                  <a:schemeClr val="tx1"/>
                </a:solidFill>
              </a:rPr>
              <a:t>A continuación, se muestra el proceso para descargar el JDK …</a:t>
            </a:r>
          </a:p>
          <a:p>
            <a:pPr marL="0" indent="0" algn="just" fontAlgn="base">
              <a:buNone/>
            </a:pPr>
            <a:r>
              <a:rPr lang="es-ES" dirty="0">
                <a:solidFill>
                  <a:schemeClr val="tx1"/>
                </a:solidFill>
              </a:rPr>
              <a:t>En nuestro buscador preferido buscamos “JDK”, y seleccionamos el primer resultado que aparece.</a:t>
            </a:r>
          </a:p>
          <a:p>
            <a:pPr algn="just"/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764" y="2957946"/>
            <a:ext cx="6096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90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>
                <a:solidFill>
                  <a:schemeClr val="tx1"/>
                </a:solidFill>
              </a:rPr>
              <a:t>En la siguiente imagen se muestra los diferentes JDK para los diferentes sistemas operativos, Seleccionamos el primer grupo de opciones </a:t>
            </a:r>
            <a:r>
              <a:rPr lang="es-ES" b="1" dirty="0">
                <a:solidFill>
                  <a:schemeClr val="tx1"/>
                </a:solidFill>
              </a:rPr>
              <a:t>Java SE </a:t>
            </a:r>
            <a:r>
              <a:rPr lang="es-ES" b="1" dirty="0" err="1">
                <a:solidFill>
                  <a:schemeClr val="tx1"/>
                </a:solidFill>
              </a:rPr>
              <a:t>Development</a:t>
            </a:r>
            <a:r>
              <a:rPr lang="es-ES" b="1" dirty="0">
                <a:solidFill>
                  <a:schemeClr val="tx1"/>
                </a:solidFill>
              </a:rPr>
              <a:t> Kit 8u211</a:t>
            </a:r>
            <a:r>
              <a:rPr lang="es-ES" dirty="0">
                <a:solidFill>
                  <a:schemeClr val="tx1"/>
                </a:solidFill>
              </a:rPr>
              <a:t>, aceptamos la licencia y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 el instalador para Windows x64 y/o Windows x86 dependiendo la versión del sistema operativo que tengas instalado.</a:t>
            </a:r>
          </a:p>
        </p:txBody>
      </p:sp>
      <p:pic>
        <p:nvPicPr>
          <p:cNvPr id="2050" name="Picture 2" descr="Descarga JD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865" y="1883784"/>
            <a:ext cx="9376352" cy="395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0029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En la siguiente imagen se muestra un formulario donde debemos crear primero una cuenta para poder iniciar la descarga, una ves la crees, ingresa con el usuario y la contraseña.</a:t>
            </a:r>
          </a:p>
        </p:txBody>
      </p:sp>
      <p:pic>
        <p:nvPicPr>
          <p:cNvPr id="3074" name="Picture 2" descr="https://1.bp.blogspot.com/-rn7JDMP10U8/XSaAKef_FAI/AAAAAAAAcYQ/gh3ezKvs5KkYRnymEP_om585qcK4EOwOQCLcBGAs/s1600/net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364" y="1219199"/>
            <a:ext cx="4695825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gresar Usuario y Contraseña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465" y="1219198"/>
            <a:ext cx="5219989" cy="548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486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Si todo sale bien, debe aparecer una ventana emergente con la descripción del archivo a descargar,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 </a:t>
            </a:r>
            <a:r>
              <a:rPr lang="es-ES" dirty="0" err="1">
                <a:solidFill>
                  <a:schemeClr val="tx1"/>
                </a:solidFill>
              </a:rPr>
              <a:t>Save</a:t>
            </a:r>
            <a:r>
              <a:rPr lang="es-ES" dirty="0">
                <a:solidFill>
                  <a:schemeClr val="tx1"/>
                </a:solidFill>
              </a:rPr>
              <a:t> File</a:t>
            </a:r>
            <a:r>
              <a:rPr lang="es-ES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CO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Terminada la descarga, por defecto queda guardado el instalador en la Carpeta Descargas.</a:t>
            </a:r>
          </a:p>
        </p:txBody>
      </p:sp>
      <p:pic>
        <p:nvPicPr>
          <p:cNvPr id="4098" name="Picture 2" descr="Inicio descarga archivo JDK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036" y="1029998"/>
            <a:ext cx="3810000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uta del instalador JD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429" y="5221431"/>
            <a:ext cx="5838825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8988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A continuación,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derecho sobre el instalador y ejecutamos como administrador. En la ventana que aparece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 </a:t>
            </a:r>
            <a:r>
              <a:rPr lang="es-ES" dirty="0" err="1">
                <a:solidFill>
                  <a:schemeClr val="tx1"/>
                </a:solidFill>
              </a:rPr>
              <a:t>Next</a:t>
            </a:r>
            <a:r>
              <a:rPr lang="es-ES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122" name="Picture 2" descr="Dar click en Nex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897" y="1074996"/>
            <a:ext cx="4810702" cy="260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uta del JD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248" y="3840917"/>
            <a:ext cx="3810000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2286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3214254"/>
            <a:ext cx="10681854" cy="3643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Una vez comience el progreso de la instalación, detrás de la ventana sale otra donde debemos dar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 siguiente para continuar con la instalación.  Como se muestra en la siguiente imagen</a:t>
            </a:r>
            <a:r>
              <a:rPr lang="es-ES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Por ultimo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 </a:t>
            </a:r>
            <a:r>
              <a:rPr lang="es-ES" dirty="0" err="1">
                <a:solidFill>
                  <a:schemeClr val="tx1"/>
                </a:solidFill>
              </a:rPr>
              <a:t>Close</a:t>
            </a:r>
            <a:r>
              <a:rPr lang="es-ES" dirty="0">
                <a:solidFill>
                  <a:schemeClr val="tx1"/>
                </a:solidFill>
              </a:rPr>
              <a:t>, y termina la instalación.</a:t>
            </a:r>
          </a:p>
        </p:txBody>
      </p:sp>
      <p:pic>
        <p:nvPicPr>
          <p:cNvPr id="6146" name="Picture 2" descr="Progreso de la instalació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291" y="166254"/>
            <a:ext cx="3810000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arpeta de destin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291" y="4177145"/>
            <a:ext cx="38100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7951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fontAlgn="base"/>
            <a:r>
              <a:rPr lang="es-ES" b="1" dirty="0">
                <a:solidFill>
                  <a:srgbClr val="FF0000"/>
                </a:solidFill>
              </a:rPr>
              <a:t>Paso 2. Configuración variable de entorno.</a:t>
            </a:r>
          </a:p>
          <a:p>
            <a:pPr marL="0" indent="0" fontAlgn="base">
              <a:buNone/>
            </a:pPr>
            <a:r>
              <a:rPr lang="es-ES" dirty="0">
                <a:solidFill>
                  <a:schemeClr val="tx1"/>
                </a:solidFill>
              </a:rPr>
              <a:t>Un paso importante es la configuración de las variables de entorno ya que ayudan a los programas a saber en qué carpeta instalar los archivos, dónde almacenar los archivos temporales y dónde encontrar la configuración del perfil de usuario. Para esto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 </a:t>
            </a:r>
            <a:r>
              <a:rPr lang="es-ES" b="1" dirty="0">
                <a:solidFill>
                  <a:schemeClr val="tx1"/>
                </a:solidFill>
              </a:rPr>
              <a:t>Inicio</a:t>
            </a:r>
            <a:r>
              <a:rPr lang="es-ES" dirty="0">
                <a:solidFill>
                  <a:schemeClr val="tx1"/>
                </a:solidFill>
              </a:rPr>
              <a:t> → </a:t>
            </a:r>
            <a:r>
              <a:rPr lang="es-ES" b="1" dirty="0">
                <a:solidFill>
                  <a:schemeClr val="tx1"/>
                </a:solidFill>
              </a:rPr>
              <a:t>Equipo</a:t>
            </a:r>
            <a:r>
              <a:rPr lang="es-ES" dirty="0">
                <a:solidFill>
                  <a:schemeClr val="tx1"/>
                </a:solidFill>
              </a:rPr>
              <a:t> (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derecho sobre equipo). → </a:t>
            </a:r>
            <a:r>
              <a:rPr lang="es-ES" b="1" dirty="0">
                <a:solidFill>
                  <a:schemeClr val="tx1"/>
                </a:solidFill>
              </a:rPr>
              <a:t>Propiedades</a:t>
            </a:r>
            <a:r>
              <a:rPr lang="es-ES" dirty="0">
                <a:solidFill>
                  <a:schemeClr val="tx1"/>
                </a:solidFill>
              </a:rPr>
              <a:t>.</a:t>
            </a:r>
          </a:p>
          <a:p>
            <a:endParaRPr lang="es-ES" dirty="0"/>
          </a:p>
        </p:txBody>
      </p:sp>
      <p:pic>
        <p:nvPicPr>
          <p:cNvPr id="7170" name="Picture 2" descr="Configurar variable de entorn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23" y="2332037"/>
            <a:ext cx="4574361" cy="408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650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Una ves estemos en la ventana </a:t>
            </a:r>
            <a:r>
              <a:rPr lang="es-ES" b="1" dirty="0">
                <a:solidFill>
                  <a:schemeClr val="tx1"/>
                </a:solidFill>
              </a:rPr>
              <a:t>Propiedades</a:t>
            </a:r>
            <a:r>
              <a:rPr lang="es-ES" dirty="0">
                <a:solidFill>
                  <a:schemeClr val="tx1"/>
                </a:solidFill>
              </a:rPr>
              <a:t> 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 </a:t>
            </a:r>
            <a:r>
              <a:rPr lang="es-ES" b="1" dirty="0">
                <a:solidFill>
                  <a:schemeClr val="tx1"/>
                </a:solidFill>
              </a:rPr>
              <a:t>Configuración avanzada del sistema</a:t>
            </a:r>
            <a:r>
              <a:rPr lang="es-ES" dirty="0">
                <a:solidFill>
                  <a:schemeClr val="tx1"/>
                </a:solidFill>
              </a:rPr>
              <a:t> → </a:t>
            </a:r>
            <a:r>
              <a:rPr lang="es-ES" b="1" dirty="0">
                <a:solidFill>
                  <a:schemeClr val="tx1"/>
                </a:solidFill>
              </a:rPr>
              <a:t>Variables de entorno ...</a:t>
            </a:r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8194" name="Picture 2" descr="Configuración variable entorn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138" y="1111394"/>
            <a:ext cx="3810000" cy="32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463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En la siguiente ventana buscamos dentro del grupo de variables del sistema, la variable </a:t>
            </a:r>
            <a:r>
              <a:rPr lang="es-ES" b="1" dirty="0" err="1">
                <a:solidFill>
                  <a:schemeClr val="tx1"/>
                </a:solidFill>
              </a:rPr>
              <a:t>Path</a:t>
            </a:r>
            <a:r>
              <a:rPr lang="es-ES" dirty="0">
                <a:solidFill>
                  <a:schemeClr val="tx1"/>
                </a:solidFill>
              </a:rPr>
              <a:t> la seleccionamos y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 el botón </a:t>
            </a:r>
            <a:r>
              <a:rPr lang="es-ES" b="1" dirty="0">
                <a:solidFill>
                  <a:schemeClr val="tx1"/>
                </a:solidFill>
              </a:rPr>
              <a:t>Editar</a:t>
            </a:r>
            <a:r>
              <a:rPr lang="es-ES" dirty="0">
                <a:solidFill>
                  <a:schemeClr val="tx1"/>
                </a:solidFill>
              </a:rPr>
              <a:t> ... </a:t>
            </a:r>
          </a:p>
        </p:txBody>
      </p:sp>
      <p:pic>
        <p:nvPicPr>
          <p:cNvPr id="9218" name="Picture 2" descr="Configuración variable Pat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866" y="1233055"/>
            <a:ext cx="34480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534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Después de dar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 el botón </a:t>
            </a:r>
            <a:r>
              <a:rPr lang="es-ES" b="1" dirty="0">
                <a:solidFill>
                  <a:schemeClr val="tx1"/>
                </a:solidFill>
              </a:rPr>
              <a:t>Editar</a:t>
            </a:r>
            <a:r>
              <a:rPr lang="es-ES" dirty="0">
                <a:solidFill>
                  <a:schemeClr val="tx1"/>
                </a:solidFill>
              </a:rPr>
              <a:t>, aparece una ventana, donde en el </a:t>
            </a:r>
            <a:r>
              <a:rPr lang="es-ES" b="1" dirty="0">
                <a:solidFill>
                  <a:schemeClr val="tx1"/>
                </a:solidFill>
              </a:rPr>
              <a:t>valor de la variable</a:t>
            </a:r>
            <a:r>
              <a:rPr lang="es-ES" dirty="0">
                <a:solidFill>
                  <a:schemeClr val="tx1"/>
                </a:solidFill>
              </a:rPr>
              <a:t> debemos ubicarnos al final del texto, agregar un punto y coma </a:t>
            </a:r>
            <a:r>
              <a:rPr lang="es-ES" b="1" dirty="0">
                <a:solidFill>
                  <a:schemeClr val="tx1"/>
                </a:solidFill>
              </a:rPr>
              <a:t>“;”</a:t>
            </a:r>
            <a:r>
              <a:rPr lang="es-ES" dirty="0">
                <a:solidFill>
                  <a:schemeClr val="tx1"/>
                </a:solidFill>
              </a:rPr>
              <a:t> y copiar la ruta donde quedo instalado el </a:t>
            </a:r>
            <a:r>
              <a:rPr lang="es-ES" b="1" dirty="0">
                <a:solidFill>
                  <a:schemeClr val="tx1"/>
                </a:solidFill>
              </a:rPr>
              <a:t>JDK</a:t>
            </a:r>
            <a:r>
              <a:rPr lang="es-ES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0242" name="Picture 2" descr="Ingresar Valor de la vari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648" y="1551708"/>
            <a:ext cx="32670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0870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La ruta del JDK la podemos encontrar … C:\Program Files\Java\jdk1.8.0_211</a:t>
            </a:r>
          </a:p>
        </p:txBody>
      </p:sp>
      <p:pic>
        <p:nvPicPr>
          <p:cNvPr id="11266" name="Picture 2" descr="Ruta del JD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938" y="975303"/>
            <a:ext cx="609600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2672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Ingresamos la ruta después de colocar el ";" damos Aceptar -&gt; Aceptar y Aceptar</a:t>
            </a:r>
            <a:r>
              <a:rPr lang="es-ES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12290" name="Picture 2" descr="Paso final configuración variable de entorn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557" y="1932707"/>
            <a:ext cx="2847975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656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fontAlgn="base"/>
            <a:r>
              <a:rPr lang="es-ES" b="1" dirty="0">
                <a:solidFill>
                  <a:srgbClr val="FF0000"/>
                </a:solidFill>
              </a:rPr>
              <a:t>Paso 3. Descargar e instalar </a:t>
            </a:r>
            <a:r>
              <a:rPr lang="es-ES" b="1" dirty="0" err="1">
                <a:solidFill>
                  <a:srgbClr val="FF0000"/>
                </a:solidFill>
              </a:rPr>
              <a:t>Netbeans</a:t>
            </a:r>
            <a:r>
              <a:rPr lang="es-ES" b="1" dirty="0">
                <a:solidFill>
                  <a:srgbClr val="FF0000"/>
                </a:solidFill>
              </a:rPr>
              <a:t> 8.2.</a:t>
            </a:r>
          </a:p>
          <a:p>
            <a:pPr marL="0" indent="0" fontAlgn="base">
              <a:buNone/>
            </a:pPr>
            <a:r>
              <a:rPr lang="es-ES" dirty="0">
                <a:solidFill>
                  <a:schemeClr val="tx1"/>
                </a:solidFill>
              </a:rPr>
              <a:t/>
            </a:r>
            <a:br>
              <a:rPr lang="es-ES" dirty="0">
                <a:solidFill>
                  <a:schemeClr val="tx1"/>
                </a:solidFill>
              </a:rPr>
            </a:br>
            <a:r>
              <a:rPr lang="es-ES" dirty="0">
                <a:solidFill>
                  <a:schemeClr val="tx1"/>
                </a:solidFill>
              </a:rPr>
              <a:t>En este paso se muestra el proceso para descargar del IDE </a:t>
            </a:r>
            <a:r>
              <a:rPr lang="es-ES" dirty="0" err="1">
                <a:solidFill>
                  <a:schemeClr val="tx1"/>
                </a:solidFill>
              </a:rPr>
              <a:t>Netbeans</a:t>
            </a:r>
            <a:r>
              <a:rPr lang="es-ES" dirty="0">
                <a:solidFill>
                  <a:schemeClr val="tx1"/>
                </a:solidFill>
              </a:rPr>
              <a:t> …</a:t>
            </a:r>
          </a:p>
          <a:p>
            <a:pPr marL="0" indent="0" fontAlgn="base">
              <a:buNone/>
            </a:pPr>
            <a:r>
              <a:rPr lang="es-ES" dirty="0" smtClean="0">
                <a:solidFill>
                  <a:schemeClr val="tx1"/>
                </a:solidFill>
              </a:rPr>
              <a:t>En </a:t>
            </a:r>
            <a:r>
              <a:rPr lang="es-ES" dirty="0">
                <a:solidFill>
                  <a:schemeClr val="tx1"/>
                </a:solidFill>
              </a:rPr>
              <a:t>nuestro buscador preferido buscamos “</a:t>
            </a:r>
            <a:r>
              <a:rPr lang="es-ES" dirty="0" err="1">
                <a:solidFill>
                  <a:schemeClr val="tx1"/>
                </a:solidFill>
              </a:rPr>
              <a:t>Netbeans</a:t>
            </a:r>
            <a:r>
              <a:rPr lang="es-ES" dirty="0">
                <a:solidFill>
                  <a:schemeClr val="tx1"/>
                </a:solidFill>
              </a:rPr>
              <a:t>”. Después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 </a:t>
            </a:r>
            <a:r>
              <a:rPr lang="es-ES" dirty="0" err="1">
                <a:solidFill>
                  <a:schemeClr val="tx1"/>
                </a:solidFill>
              </a:rPr>
              <a:t>Download</a:t>
            </a:r>
            <a:r>
              <a:rPr lang="es-ES" dirty="0">
                <a:solidFill>
                  <a:schemeClr val="tx1"/>
                </a:solidFill>
              </a:rPr>
              <a:t>.</a:t>
            </a:r>
          </a:p>
          <a:p>
            <a:endParaRPr lang="es-ES" dirty="0"/>
          </a:p>
        </p:txBody>
      </p:sp>
      <p:pic>
        <p:nvPicPr>
          <p:cNvPr id="13314" name="Picture 2" descr="Búsqueda netbea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5" y="2114839"/>
            <a:ext cx="60960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4194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Los siguiente que debemos hacer es seleccionar el </a:t>
            </a:r>
            <a:r>
              <a:rPr lang="es-ES" b="1" dirty="0">
                <a:solidFill>
                  <a:schemeClr val="tx1"/>
                </a:solidFill>
              </a:rPr>
              <a:t>lenguaje</a:t>
            </a:r>
            <a:r>
              <a:rPr lang="es-ES" dirty="0">
                <a:solidFill>
                  <a:schemeClr val="tx1"/>
                </a:solidFill>
              </a:rPr>
              <a:t> y la </a:t>
            </a:r>
            <a:r>
              <a:rPr lang="es-ES" b="1" dirty="0">
                <a:solidFill>
                  <a:schemeClr val="tx1"/>
                </a:solidFill>
              </a:rPr>
              <a:t>plataforma</a:t>
            </a:r>
            <a:r>
              <a:rPr lang="es-ES" dirty="0">
                <a:solidFill>
                  <a:schemeClr val="tx1"/>
                </a:solidFill>
              </a:rPr>
              <a:t>, preferiblemente seleccionar el lenguaje ingles ya que la mayoría de documentación siempre va estar en este idioma.</a:t>
            </a:r>
          </a:p>
        </p:txBody>
      </p:sp>
      <p:pic>
        <p:nvPicPr>
          <p:cNvPr id="14338" name="Picture 2" descr="Selección características NetBea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738" y="1431491"/>
            <a:ext cx="6096000" cy="436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7010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Terminada la descarga, por defecto queda guardado el instalador en la Carpeta Descargas</a:t>
            </a:r>
            <a:r>
              <a:rPr lang="es-ES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ES" dirty="0" smtClean="0">
                <a:solidFill>
                  <a:schemeClr val="tx1"/>
                </a:solidFill>
              </a:rPr>
              <a:t>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derecho sobre el instalador netbeans-8.2-windows.exe, luego en ejecutar como administrador, presionamos el botón que </a:t>
            </a:r>
            <a:r>
              <a:rPr lang="es-ES" b="1" dirty="0">
                <a:solidFill>
                  <a:schemeClr val="tx1"/>
                </a:solidFill>
              </a:rPr>
              <a:t>si</a:t>
            </a:r>
            <a:r>
              <a:rPr lang="es-ES" dirty="0">
                <a:solidFill>
                  <a:schemeClr val="tx1"/>
                </a:solidFill>
              </a:rPr>
              <a:t>, comenzara la instalación, hasta aparecer la siguiente ventana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 </a:t>
            </a:r>
            <a:r>
              <a:rPr lang="es-ES" b="1" dirty="0" err="1">
                <a:solidFill>
                  <a:schemeClr val="tx1"/>
                </a:solidFill>
              </a:rPr>
              <a:t>Next</a:t>
            </a:r>
            <a:r>
              <a:rPr lang="es-ES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5362" name="Picture 2" descr="https://1.bp.blogspot.com/-5AzUTH-aXas/XSa2Jp_iUjI/AAAAAAAAcc8/9QhC2-YVZdQizBKy92lnalIt1fuvFW_zQCLcBGAs/s640/net2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291" y="707593"/>
            <a:ext cx="4378036" cy="168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Configuración NetBea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636" y="4040399"/>
            <a:ext cx="2729346" cy="227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4504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Aceptamos los términos de la licencia y le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 </a:t>
            </a:r>
            <a:r>
              <a:rPr lang="es-ES" dirty="0" err="1">
                <a:solidFill>
                  <a:schemeClr val="tx1"/>
                </a:solidFill>
              </a:rPr>
              <a:t>Next</a:t>
            </a:r>
            <a:r>
              <a:rPr lang="es-ES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6386" name="Picture 2" descr="Aceptar licenc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286" y="955964"/>
            <a:ext cx="5193380" cy="433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539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En la siguiente ventana muestra dos rutas la primera es donde queda instalado </a:t>
            </a:r>
            <a:r>
              <a:rPr lang="es-ES" dirty="0" err="1">
                <a:solidFill>
                  <a:schemeClr val="tx1"/>
                </a:solidFill>
              </a:rPr>
              <a:t>NetBeans</a:t>
            </a:r>
            <a:r>
              <a:rPr lang="es-ES" dirty="0">
                <a:solidFill>
                  <a:schemeClr val="tx1"/>
                </a:solidFill>
              </a:rPr>
              <a:t>, la segunda es la ruta de referencia del JDK que ya instalamos anteriormente.</a:t>
            </a:r>
          </a:p>
        </p:txBody>
      </p:sp>
      <p:pic>
        <p:nvPicPr>
          <p:cNvPr id="17410" name="Picture 2" descr="Rutas de instalació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096" y="1343889"/>
            <a:ext cx="5060643" cy="422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8352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Ruta de instalación del servidor web,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 </a:t>
            </a:r>
            <a:r>
              <a:rPr lang="es-ES" dirty="0" err="1">
                <a:solidFill>
                  <a:schemeClr val="tx1"/>
                </a:solidFill>
              </a:rPr>
              <a:t>Next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smtClean="0">
                <a:solidFill>
                  <a:schemeClr val="tx1"/>
                </a:solidFill>
              </a:rPr>
              <a:t>…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CO" dirty="0" smtClean="0">
              <a:solidFill>
                <a:schemeClr val="tx1"/>
              </a:solidFill>
            </a:endParaRPr>
          </a:p>
          <a:p>
            <a:pPr marL="0" indent="0" fontAlgn="base">
              <a:buNone/>
            </a:pPr>
            <a:r>
              <a:rPr lang="es-ES" b="1" dirty="0" smtClean="0">
                <a:solidFill>
                  <a:schemeClr val="tx1"/>
                </a:solidFill>
              </a:rPr>
              <a:t>Desmarcamos</a:t>
            </a:r>
            <a:r>
              <a:rPr lang="es-ES" dirty="0">
                <a:solidFill>
                  <a:schemeClr val="tx1"/>
                </a:solidFill>
              </a:rPr>
              <a:t> la opción de </a:t>
            </a:r>
            <a:r>
              <a:rPr lang="es-ES" dirty="0" err="1">
                <a:solidFill>
                  <a:schemeClr val="tx1"/>
                </a:solidFill>
              </a:rPr>
              <a:t>Check</a:t>
            </a:r>
            <a:r>
              <a:rPr lang="es-ES" dirty="0">
                <a:solidFill>
                  <a:schemeClr val="tx1"/>
                </a:solidFill>
              </a:rPr>
              <a:t> for </a:t>
            </a:r>
            <a:r>
              <a:rPr lang="es-ES" dirty="0" err="1">
                <a:solidFill>
                  <a:schemeClr val="tx1"/>
                </a:solidFill>
              </a:rPr>
              <a:t>Updates</a:t>
            </a:r>
            <a:r>
              <a:rPr lang="es-ES" dirty="0">
                <a:solidFill>
                  <a:schemeClr val="tx1"/>
                </a:solidFill>
              </a:rPr>
              <a:t> y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 </a:t>
            </a:r>
            <a:r>
              <a:rPr lang="es-ES" b="1" dirty="0" err="1">
                <a:solidFill>
                  <a:schemeClr val="tx1"/>
                </a:solidFill>
              </a:rPr>
              <a:t>Install</a:t>
            </a:r>
            <a:r>
              <a:rPr lang="es-ES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s-ES" dirty="0"/>
              <a:t/>
            </a:r>
            <a:br>
              <a:rPr lang="es-ES" dirty="0"/>
            </a:br>
            <a:endParaRPr lang="es-CO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18434" name="Picture 2" descr="Ruta instalación servidor we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290" y="789710"/>
            <a:ext cx="2812473" cy="234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Instalación NetBea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374" y="3720017"/>
            <a:ext cx="3134303" cy="260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6385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8364" y="207818"/>
            <a:ext cx="10681854" cy="6497781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Ahora comenzara la instalación, hay que esperar unos minutos</a:t>
            </a:r>
            <a:r>
              <a:rPr lang="es-ES" dirty="0" smtClean="0">
                <a:solidFill>
                  <a:schemeClr val="tx1"/>
                </a:solidFill>
              </a:rPr>
              <a:t>...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 smtClean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 smtClean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 smtClean="0"/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Por ultimo </a:t>
            </a:r>
            <a:r>
              <a:rPr lang="es-ES" b="1" dirty="0">
                <a:solidFill>
                  <a:schemeClr val="tx1"/>
                </a:solidFill>
              </a:rPr>
              <a:t>desmarcamos</a:t>
            </a:r>
            <a:r>
              <a:rPr lang="es-ES" dirty="0">
                <a:solidFill>
                  <a:schemeClr val="tx1"/>
                </a:solidFill>
              </a:rPr>
              <a:t> la opción </a:t>
            </a:r>
            <a:r>
              <a:rPr lang="es-ES" dirty="0" err="1">
                <a:solidFill>
                  <a:schemeClr val="tx1"/>
                </a:solidFill>
              </a:rPr>
              <a:t>Contribute</a:t>
            </a:r>
            <a:r>
              <a:rPr lang="es-ES" dirty="0">
                <a:solidFill>
                  <a:schemeClr val="tx1"/>
                </a:solidFill>
              </a:rPr>
              <a:t> to the </a:t>
            </a:r>
            <a:r>
              <a:rPr lang="es-ES" dirty="0" err="1">
                <a:solidFill>
                  <a:schemeClr val="tx1"/>
                </a:solidFill>
              </a:rPr>
              <a:t>NetBeans</a:t>
            </a:r>
            <a:r>
              <a:rPr lang="es-ES" dirty="0">
                <a:solidFill>
                  <a:schemeClr val="tx1"/>
                </a:solidFill>
              </a:rPr>
              <a:t> … y damos </a:t>
            </a:r>
            <a:r>
              <a:rPr lang="es-ES" dirty="0" err="1">
                <a:solidFill>
                  <a:schemeClr val="tx1"/>
                </a:solidFill>
              </a:rPr>
              <a:t>click</a:t>
            </a:r>
            <a:r>
              <a:rPr lang="es-ES" dirty="0">
                <a:solidFill>
                  <a:schemeClr val="tx1"/>
                </a:solidFill>
              </a:rPr>
              <a:t> en </a:t>
            </a:r>
            <a:r>
              <a:rPr lang="es-ES" b="1" dirty="0" err="1">
                <a:solidFill>
                  <a:schemeClr val="tx1"/>
                </a:solidFill>
              </a:rPr>
              <a:t>Finish</a:t>
            </a:r>
            <a:r>
              <a:rPr lang="es-ES" b="1" dirty="0"/>
              <a:t>.</a:t>
            </a:r>
            <a:r>
              <a:rPr lang="es-ES" dirty="0"/>
              <a:t> </a:t>
            </a:r>
          </a:p>
        </p:txBody>
      </p:sp>
      <p:pic>
        <p:nvPicPr>
          <p:cNvPr id="19458" name="Picture 2" descr="Progreso de la instalació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891" y="726353"/>
            <a:ext cx="3006436" cy="251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Finalización de la instalació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508" y="4164300"/>
            <a:ext cx="2919474" cy="243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73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89339" y="560931"/>
            <a:ext cx="8187071" cy="4064627"/>
          </a:xfrm>
        </p:spPr>
        <p:txBody>
          <a:bodyPr/>
          <a:lstStyle/>
          <a:p>
            <a:r>
              <a:rPr lang="es-CO" dirty="0" smtClean="0"/>
              <a:t>gracias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05743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696</TotalTime>
  <Words>1726</Words>
  <Application>Microsoft Office PowerPoint</Application>
  <PresentationFormat>Panorámica</PresentationFormat>
  <Paragraphs>138</Paragraphs>
  <Slides>50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4" baseType="lpstr">
      <vt:lpstr>Arial</vt:lpstr>
      <vt:lpstr>Gill Sans MT</vt:lpstr>
      <vt:lpstr>Impact</vt:lpstr>
      <vt:lpstr>Badge</vt:lpstr>
      <vt:lpstr>Manual de instalación</vt:lpstr>
      <vt:lpstr>INSTALACIÓN DE POSTGRES</vt:lpstr>
      <vt:lpstr> REQUERIMIENTOS PARA INSTALAR POSTGRES: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INSTALACION DE NETBEANS 8.2 y JDK</vt:lpstr>
      <vt:lpstr>REQUISITOS: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Diana P.</dc:creator>
  <cp:lastModifiedBy>juanmorenoreyes2@outlook.com</cp:lastModifiedBy>
  <cp:revision>53</cp:revision>
  <dcterms:created xsi:type="dcterms:W3CDTF">2021-05-03T22:00:16Z</dcterms:created>
  <dcterms:modified xsi:type="dcterms:W3CDTF">2021-12-01T14:54:51Z</dcterms:modified>
</cp:coreProperties>
</file>