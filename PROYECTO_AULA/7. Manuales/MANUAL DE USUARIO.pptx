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57" r:id="rId6"/>
    <p:sldId id="258" r:id="rId7"/>
    <p:sldId id="259" r:id="rId8"/>
    <p:sldId id="260" r:id="rId9"/>
    <p:sldId id="261" r:id="rId10"/>
    <p:sldId id="287" r:id="rId11"/>
    <p:sldId id="288" r:id="rId12"/>
    <p:sldId id="289" r:id="rId13"/>
    <p:sldId id="290" r:id="rId14"/>
    <p:sldId id="262" r:id="rId15"/>
    <p:sldId id="263" r:id="rId16"/>
    <p:sldId id="264" r:id="rId17"/>
    <p:sldId id="265" r:id="rId18"/>
    <p:sldId id="267" r:id="rId19"/>
    <p:sldId id="266" r:id="rId20"/>
    <p:sldId id="268" r:id="rId21"/>
    <p:sldId id="271" r:id="rId22"/>
    <p:sldId id="273" r:id="rId23"/>
    <p:sldId id="274" r:id="rId24"/>
    <p:sldId id="269" r:id="rId25"/>
    <p:sldId id="270" r:id="rId26"/>
    <p:sldId id="272" r:id="rId27"/>
    <p:sldId id="275" r:id="rId28"/>
    <p:sldId id="277" r:id="rId29"/>
    <p:sldId id="276" r:id="rId30"/>
    <p:sldId id="278" r:id="rId31"/>
    <p:sldId id="279" r:id="rId32"/>
    <p:sldId id="280" r:id="rId33"/>
    <p:sldId id="281" r:id="rId34"/>
    <p:sldId id="282" r:id="rId35"/>
    <p:sldId id="283" r:id="rId36"/>
    <p:sldId id="285" r:id="rId37"/>
    <p:sldId id="286" r:id="rId38"/>
    <p:sldId id="284"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20" autoAdjust="0"/>
  </p:normalViewPr>
  <p:slideViewPr>
    <p:cSldViewPr snapToGrid="0">
      <p:cViewPr varScale="1">
        <p:scale>
          <a:sx n="69" d="100"/>
          <a:sy n="69" d="100"/>
        </p:scale>
        <p:origin x="7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EAE16C5F-1C2F-4E15-9082-2B4A936D9840}" type="datetimeFigureOut">
              <a:rPr lang="es-CO" smtClean="0"/>
              <a:t>4/12/2021</a:t>
            </a:fld>
            <a:endParaRPr lang="es-CO"/>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s-CO"/>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20F1539-F8FC-499A-8B47-A91181D43C1A}" type="slidenum">
              <a:rPr lang="es-CO" smtClean="0"/>
              <a:t>‹Nº›</a:t>
            </a:fld>
            <a:endParaRPr lang="es-CO"/>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1982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E16C5F-1C2F-4E15-9082-2B4A936D9840}" type="datetimeFigureOut">
              <a:rPr lang="es-CO" smtClean="0"/>
              <a:t>4/12/2021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720F1539-F8FC-499A-8B47-A91181D43C1A}" type="slidenum">
              <a:rPr lang="es-CO" smtClean="0"/>
              <a:t>‹Nº›</a:t>
            </a:fld>
            <a:endParaRPr lang="es-CO"/>
          </a:p>
        </p:txBody>
      </p:sp>
    </p:spTree>
    <p:extLst>
      <p:ext uri="{BB962C8B-B14F-4D97-AF65-F5344CB8AC3E}">
        <p14:creationId xmlns:p14="http://schemas.microsoft.com/office/powerpoint/2010/main" val="386244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EAE16C5F-1C2F-4E15-9082-2B4A936D9840}" type="datetimeFigureOut">
              <a:rPr lang="es-CO" smtClean="0"/>
              <a:t>4/12/2021</a:t>
            </a:fld>
            <a:endParaRPr lang="es-CO"/>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s-CO"/>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20F1539-F8FC-499A-8B47-A91181D43C1A}" type="slidenum">
              <a:rPr lang="es-CO" smtClean="0"/>
              <a:t>‹Nº›</a:t>
            </a:fld>
            <a:endParaRPr lang="es-CO"/>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6454831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AE16C5F-1C2F-4E15-9082-2B4A936D9840}" type="datetimeFigureOut">
              <a:rPr lang="es-CO" smtClean="0"/>
              <a:t>4/12/2021</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720F1539-F8FC-499A-8B47-A91181D43C1A}" type="slidenum">
              <a:rPr lang="es-CO" smtClean="0"/>
              <a:t>‹Nº›</a:t>
            </a:fld>
            <a:endParaRPr lang="es-CO"/>
          </a:p>
        </p:txBody>
      </p:sp>
    </p:spTree>
    <p:extLst>
      <p:ext uri="{BB962C8B-B14F-4D97-AF65-F5344CB8AC3E}">
        <p14:creationId xmlns:p14="http://schemas.microsoft.com/office/powerpoint/2010/main" val="243665516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57300" y="2909102"/>
            <a:ext cx="4800600" cy="299639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633864" y="2909102"/>
            <a:ext cx="4800600" cy="299639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AE16C5F-1C2F-4E15-9082-2B4A936D9840}" type="datetimeFigureOut">
              <a:rPr lang="es-CO" smtClean="0"/>
              <a:t>4/12/2021</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720F1539-F8FC-499A-8B47-A91181D43C1A}" type="slidenum">
              <a:rPr lang="es-CO" smtClean="0"/>
              <a:t>‹Nº›</a:t>
            </a:fld>
            <a:endParaRPr lang="es-CO"/>
          </a:p>
        </p:txBody>
      </p:sp>
    </p:spTree>
    <p:extLst>
      <p:ext uri="{BB962C8B-B14F-4D97-AF65-F5344CB8AC3E}">
        <p14:creationId xmlns:p14="http://schemas.microsoft.com/office/powerpoint/2010/main" val="418618744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AE16C5F-1C2F-4E15-9082-2B4A936D9840}" type="datetimeFigureOut">
              <a:rPr lang="es-CO" smtClean="0"/>
              <a:t>4/12/2021</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720F1539-F8FC-499A-8B47-A91181D43C1A}" type="slidenum">
              <a:rPr lang="es-CO" smtClean="0"/>
              <a:t>‹Nº›</a:t>
            </a:fld>
            <a:endParaRPr lang="es-CO"/>
          </a:p>
        </p:txBody>
      </p:sp>
    </p:spTree>
    <p:extLst>
      <p:ext uri="{BB962C8B-B14F-4D97-AF65-F5344CB8AC3E}">
        <p14:creationId xmlns:p14="http://schemas.microsoft.com/office/powerpoint/2010/main" val="1578609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E16C5F-1C2F-4E15-9082-2B4A936D9840}" type="datetimeFigureOut">
              <a:rPr lang="es-CO" smtClean="0"/>
              <a:t>4/12/2021</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720F1539-F8FC-499A-8B47-A91181D43C1A}" type="slidenum">
              <a:rPr lang="es-CO" smtClean="0"/>
              <a:t>‹Nº›</a:t>
            </a:fld>
            <a:endParaRPr lang="es-CO"/>
          </a:p>
        </p:txBody>
      </p:sp>
    </p:spTree>
    <p:extLst>
      <p:ext uri="{BB962C8B-B14F-4D97-AF65-F5344CB8AC3E}">
        <p14:creationId xmlns:p14="http://schemas.microsoft.com/office/powerpoint/2010/main" val="2861189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65051" y="6375679"/>
            <a:ext cx="1233355" cy="348462"/>
          </a:xfrm>
        </p:spPr>
        <p:txBody>
          <a:bodyPr/>
          <a:lstStyle/>
          <a:p>
            <a:fld id="{EAE16C5F-1C2F-4E15-9082-2B4A936D9840}" type="datetimeFigureOut">
              <a:rPr lang="es-CO" smtClean="0"/>
              <a:t>4/12/2021</a:t>
            </a:fld>
            <a:endParaRPr lang="es-CO"/>
          </a:p>
        </p:txBody>
      </p:sp>
      <p:sp>
        <p:nvSpPr>
          <p:cNvPr id="6" name="Footer Placeholder 5"/>
          <p:cNvSpPr>
            <a:spLocks noGrp="1"/>
          </p:cNvSpPr>
          <p:nvPr>
            <p:ph type="ftr" sz="quarter" idx="11"/>
          </p:nvPr>
        </p:nvSpPr>
        <p:spPr>
          <a:xfrm>
            <a:off x="2103620" y="6375679"/>
            <a:ext cx="3482179" cy="345796"/>
          </a:xfrm>
        </p:spPr>
        <p:txBody>
          <a:bodyPr/>
          <a:lstStyle/>
          <a:p>
            <a:endParaRPr lang="es-CO"/>
          </a:p>
        </p:txBody>
      </p:sp>
      <p:sp>
        <p:nvSpPr>
          <p:cNvPr id="7" name="Slide Number Placeholder 6"/>
          <p:cNvSpPr>
            <a:spLocks noGrp="1"/>
          </p:cNvSpPr>
          <p:nvPr>
            <p:ph type="sldNum" sz="quarter" idx="12"/>
          </p:nvPr>
        </p:nvSpPr>
        <p:spPr>
          <a:xfrm>
            <a:off x="5691014" y="6375679"/>
            <a:ext cx="1232456" cy="345796"/>
          </a:xfrm>
        </p:spPr>
        <p:txBody>
          <a:bodyPr/>
          <a:lstStyle/>
          <a:p>
            <a:fld id="{720F1539-F8FC-499A-8B47-A91181D43C1A}" type="slidenum">
              <a:rPr lang="es-CO" smtClean="0"/>
              <a:t>‹Nº›</a:t>
            </a:fld>
            <a:endParaRPr lang="es-CO"/>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6701318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65950" y="6375679"/>
            <a:ext cx="1232456" cy="348462"/>
          </a:xfrm>
        </p:spPr>
        <p:txBody>
          <a:bodyPr/>
          <a:lstStyle/>
          <a:p>
            <a:fld id="{EAE16C5F-1C2F-4E15-9082-2B4A936D9840}" type="datetimeFigureOut">
              <a:rPr lang="es-CO" smtClean="0"/>
              <a:t>4/12/2021</a:t>
            </a:fld>
            <a:endParaRPr lang="es-CO"/>
          </a:p>
        </p:txBody>
      </p:sp>
      <p:sp>
        <p:nvSpPr>
          <p:cNvPr id="6" name="Footer Placeholder 5"/>
          <p:cNvSpPr>
            <a:spLocks noGrp="1"/>
          </p:cNvSpPr>
          <p:nvPr>
            <p:ph type="ftr" sz="quarter" idx="11"/>
          </p:nvPr>
        </p:nvSpPr>
        <p:spPr>
          <a:xfrm>
            <a:off x="2103621" y="6375679"/>
            <a:ext cx="3482178" cy="345796"/>
          </a:xfrm>
        </p:spPr>
        <p:txBody>
          <a:bodyPr/>
          <a:lstStyle/>
          <a:p>
            <a:endParaRPr lang="es-CO"/>
          </a:p>
        </p:txBody>
      </p:sp>
      <p:sp>
        <p:nvSpPr>
          <p:cNvPr id="7" name="Slide Number Placeholder 6"/>
          <p:cNvSpPr>
            <a:spLocks noGrp="1"/>
          </p:cNvSpPr>
          <p:nvPr>
            <p:ph type="sldNum" sz="quarter" idx="12"/>
          </p:nvPr>
        </p:nvSpPr>
        <p:spPr>
          <a:xfrm>
            <a:off x="5687568" y="6375679"/>
            <a:ext cx="1234440" cy="345796"/>
          </a:xfrm>
        </p:spPr>
        <p:txBody>
          <a:bodyPr/>
          <a:lstStyle/>
          <a:p>
            <a:fld id="{720F1539-F8FC-499A-8B47-A91181D43C1A}" type="slidenum">
              <a:rPr lang="es-CO" smtClean="0"/>
              <a:t>‹Nº›</a:t>
            </a:fld>
            <a:endParaRPr lang="es-CO"/>
          </a:p>
        </p:txBody>
      </p:sp>
    </p:spTree>
    <p:extLst>
      <p:ext uri="{BB962C8B-B14F-4D97-AF65-F5344CB8AC3E}">
        <p14:creationId xmlns:p14="http://schemas.microsoft.com/office/powerpoint/2010/main" val="1950650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E16C5F-1C2F-4E15-9082-2B4A936D9840}" type="datetimeFigureOut">
              <a:rPr lang="es-CO" smtClean="0"/>
              <a:t>4/12/2021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720F1539-F8FC-499A-8B47-A91181D43C1A}" type="slidenum">
              <a:rPr lang="es-CO" smtClean="0"/>
              <a:t>‹Nº›</a:t>
            </a:fld>
            <a:endParaRPr lang="es-CO"/>
          </a:p>
        </p:txBody>
      </p:sp>
    </p:spTree>
    <p:extLst>
      <p:ext uri="{BB962C8B-B14F-4D97-AF65-F5344CB8AC3E}">
        <p14:creationId xmlns:p14="http://schemas.microsoft.com/office/powerpoint/2010/main" val="315149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E16C5F-1C2F-4E15-9082-2B4A936D9840}" type="datetimeFigureOut">
              <a:rPr lang="es-CO" smtClean="0"/>
              <a:t>4/12/2021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720F1539-F8FC-499A-8B47-A91181D43C1A}" type="slidenum">
              <a:rPr lang="es-CO" smtClean="0"/>
              <a:t>‹Nº›</a:t>
            </a:fld>
            <a:endParaRPr lang="es-CO"/>
          </a:p>
        </p:txBody>
      </p:sp>
    </p:spTree>
    <p:extLst>
      <p:ext uri="{BB962C8B-B14F-4D97-AF65-F5344CB8AC3E}">
        <p14:creationId xmlns:p14="http://schemas.microsoft.com/office/powerpoint/2010/main" val="1538292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EAE16C5F-1C2F-4E15-9082-2B4A936D9840}" type="datetimeFigureOut">
              <a:rPr lang="es-CO" smtClean="0"/>
              <a:t>4/12/2021</a:t>
            </a:fld>
            <a:endParaRPr lang="es-CO"/>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s-CO"/>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20F1539-F8FC-499A-8B47-A91181D43C1A}" type="slidenum">
              <a:rPr lang="es-CO" smtClean="0"/>
              <a:t>‹Nº›</a:t>
            </a:fld>
            <a:endParaRPr lang="es-CO"/>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446694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B8AAB1-6434-45F4-A9BE-14993FBBE60F}"/>
              </a:ext>
            </a:extLst>
          </p:cNvPr>
          <p:cNvSpPr>
            <a:spLocks noGrp="1"/>
          </p:cNvSpPr>
          <p:nvPr>
            <p:ph type="ctrTitle"/>
          </p:nvPr>
        </p:nvSpPr>
        <p:spPr/>
        <p:txBody>
          <a:bodyPr/>
          <a:lstStyle/>
          <a:p>
            <a:r>
              <a:rPr lang="es-CO" dirty="0"/>
              <a:t>Manual de usuario</a:t>
            </a:r>
          </a:p>
        </p:txBody>
      </p:sp>
    </p:spTree>
    <p:extLst>
      <p:ext uri="{BB962C8B-B14F-4D97-AF65-F5344CB8AC3E}">
        <p14:creationId xmlns:p14="http://schemas.microsoft.com/office/powerpoint/2010/main" val="194887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40AFFB-C66A-45E2-AAEC-88C0776B1468}"/>
              </a:ext>
            </a:extLst>
          </p:cNvPr>
          <p:cNvSpPr>
            <a:spLocks noGrp="1"/>
          </p:cNvSpPr>
          <p:nvPr>
            <p:ph type="ctrTitle"/>
          </p:nvPr>
        </p:nvSpPr>
        <p:spPr/>
        <p:txBody>
          <a:bodyPr/>
          <a:lstStyle/>
          <a:p>
            <a:r>
              <a:rPr lang="es-CO" dirty="0"/>
              <a:t>Creación </a:t>
            </a:r>
            <a:r>
              <a:rPr lang="es-CO" dirty="0" smtClean="0"/>
              <a:t>de LA </a:t>
            </a:r>
            <a:r>
              <a:rPr lang="es-CO" dirty="0"/>
              <a:t>base de datos</a:t>
            </a:r>
          </a:p>
        </p:txBody>
      </p:sp>
    </p:spTree>
    <p:extLst>
      <p:ext uri="{BB962C8B-B14F-4D97-AF65-F5344CB8AC3E}">
        <p14:creationId xmlns:p14="http://schemas.microsoft.com/office/powerpoint/2010/main" val="3843506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08ECF0E-FEFC-4221-A488-6456D593F996}"/>
              </a:ext>
            </a:extLst>
          </p:cNvPr>
          <p:cNvSpPr>
            <a:spLocks noGrp="1"/>
          </p:cNvSpPr>
          <p:nvPr>
            <p:ph idx="1"/>
          </p:nvPr>
        </p:nvSpPr>
        <p:spPr>
          <a:xfrm>
            <a:off x="1127853" y="438150"/>
            <a:ext cx="10178322" cy="6096000"/>
          </a:xfrm>
        </p:spPr>
        <p:txBody>
          <a:bodyPr/>
          <a:lstStyle/>
          <a:p>
            <a:pPr marL="0" indent="0">
              <a:buNone/>
            </a:pPr>
            <a:r>
              <a:rPr lang="es-CO" dirty="0">
                <a:solidFill>
                  <a:srgbClr val="FF0000"/>
                </a:solidFill>
              </a:rPr>
              <a:t>Paso 1</a:t>
            </a:r>
          </a:p>
          <a:p>
            <a:r>
              <a:rPr lang="es-CO" dirty="0">
                <a:solidFill>
                  <a:schemeClr val="tx1"/>
                </a:solidFill>
              </a:rPr>
              <a:t>Para le creación de base de datos haremos lo siguiente:</a:t>
            </a:r>
          </a:p>
          <a:p>
            <a:r>
              <a:rPr lang="es-CO" dirty="0">
                <a:solidFill>
                  <a:schemeClr val="tx1"/>
                </a:solidFill>
              </a:rPr>
              <a:t>Lo primero seria ir a </a:t>
            </a:r>
            <a:r>
              <a:rPr lang="es-CO" dirty="0" err="1">
                <a:solidFill>
                  <a:schemeClr val="tx1"/>
                </a:solidFill>
              </a:rPr>
              <a:t>pgAdmin</a:t>
            </a:r>
            <a:r>
              <a:rPr lang="es-CO" dirty="0">
                <a:solidFill>
                  <a:schemeClr val="tx1"/>
                </a:solidFill>
              </a:rPr>
              <a:t> y bajar la pestaña de PostgreSQL. De ahí saldrá una llamada </a:t>
            </a:r>
            <a:r>
              <a:rPr lang="es-CO" dirty="0" err="1">
                <a:solidFill>
                  <a:schemeClr val="tx1"/>
                </a:solidFill>
              </a:rPr>
              <a:t>Databases</a:t>
            </a:r>
            <a:r>
              <a:rPr lang="es-CO" dirty="0">
                <a:solidFill>
                  <a:schemeClr val="tx1"/>
                </a:solidFill>
              </a:rPr>
              <a:t>. Ahí damos clic derecho, créate y le damos a la opción </a:t>
            </a:r>
            <a:r>
              <a:rPr lang="es-CO" dirty="0" err="1">
                <a:solidFill>
                  <a:schemeClr val="tx1"/>
                </a:solidFill>
              </a:rPr>
              <a:t>Database</a:t>
            </a:r>
            <a:r>
              <a:rPr lang="es-CO" dirty="0">
                <a:solidFill>
                  <a:schemeClr val="tx1"/>
                </a:solidFill>
              </a:rPr>
              <a:t>.</a:t>
            </a:r>
          </a:p>
        </p:txBody>
      </p:sp>
      <p:pic>
        <p:nvPicPr>
          <p:cNvPr id="7" name="Imagen 6">
            <a:extLst>
              <a:ext uri="{FF2B5EF4-FFF2-40B4-BE49-F238E27FC236}">
                <a16:creationId xmlns:a16="http://schemas.microsoft.com/office/drawing/2014/main" id="{E7BD4A98-FA61-4066-8851-A92FF96B7CD2}"/>
              </a:ext>
            </a:extLst>
          </p:cNvPr>
          <p:cNvPicPr>
            <a:picLocks noChangeAspect="1"/>
          </p:cNvPicPr>
          <p:nvPr/>
        </p:nvPicPr>
        <p:blipFill rotWithShape="1">
          <a:blip r:embed="rId2"/>
          <a:srcRect l="22390" t="13156" r="20900" b="10999"/>
          <a:stretch/>
        </p:blipFill>
        <p:spPr>
          <a:xfrm>
            <a:off x="3714750" y="2362200"/>
            <a:ext cx="5393824" cy="4057650"/>
          </a:xfrm>
          <a:prstGeom prst="rect">
            <a:avLst/>
          </a:prstGeom>
        </p:spPr>
      </p:pic>
    </p:spTree>
    <p:extLst>
      <p:ext uri="{BB962C8B-B14F-4D97-AF65-F5344CB8AC3E}">
        <p14:creationId xmlns:p14="http://schemas.microsoft.com/office/powerpoint/2010/main" val="3894136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54747ED-2588-4BE0-AFD7-8C4AC84FB02C}"/>
              </a:ext>
            </a:extLst>
          </p:cNvPr>
          <p:cNvSpPr>
            <a:spLocks noGrp="1"/>
          </p:cNvSpPr>
          <p:nvPr>
            <p:ph idx="1"/>
          </p:nvPr>
        </p:nvSpPr>
        <p:spPr>
          <a:xfrm>
            <a:off x="1251678" y="390525"/>
            <a:ext cx="10178322" cy="5991225"/>
          </a:xfrm>
        </p:spPr>
        <p:txBody>
          <a:bodyPr/>
          <a:lstStyle/>
          <a:p>
            <a:pPr marL="0" indent="0">
              <a:buNone/>
            </a:pPr>
            <a:r>
              <a:rPr lang="es-CO" dirty="0">
                <a:solidFill>
                  <a:srgbClr val="FF0000"/>
                </a:solidFill>
              </a:rPr>
              <a:t>Paso 2</a:t>
            </a:r>
          </a:p>
          <a:p>
            <a:r>
              <a:rPr lang="es-CO" dirty="0">
                <a:solidFill>
                  <a:schemeClr val="tx1"/>
                </a:solidFill>
              </a:rPr>
              <a:t>A continuación nos saldrá un cuadro. En el cuadro que dice </a:t>
            </a:r>
            <a:r>
              <a:rPr lang="es-CO" dirty="0" err="1">
                <a:solidFill>
                  <a:schemeClr val="tx1"/>
                </a:solidFill>
              </a:rPr>
              <a:t>Database</a:t>
            </a:r>
            <a:r>
              <a:rPr lang="es-CO" dirty="0">
                <a:solidFill>
                  <a:schemeClr val="tx1"/>
                </a:solidFill>
              </a:rPr>
              <a:t>, colocaremos el nombre de la base de datos, en este caso se llamara Sistema. Recuerda dejarla con el nombre Sistema o si no,  no se establecerá la conexión con </a:t>
            </a:r>
            <a:r>
              <a:rPr lang="es-CO" dirty="0" err="1">
                <a:solidFill>
                  <a:schemeClr val="tx1"/>
                </a:solidFill>
              </a:rPr>
              <a:t>NetBeans</a:t>
            </a:r>
            <a:r>
              <a:rPr lang="es-CO" dirty="0">
                <a:solidFill>
                  <a:schemeClr val="tx1"/>
                </a:solidFill>
              </a:rPr>
              <a:t>.</a:t>
            </a:r>
          </a:p>
          <a:p>
            <a:r>
              <a:rPr lang="es-CO" dirty="0">
                <a:solidFill>
                  <a:schemeClr val="tx1"/>
                </a:solidFill>
              </a:rPr>
              <a:t>Por ultimo le daremos en </a:t>
            </a:r>
            <a:r>
              <a:rPr lang="es-CO" dirty="0" err="1">
                <a:solidFill>
                  <a:schemeClr val="tx1"/>
                </a:solidFill>
              </a:rPr>
              <a:t>Save</a:t>
            </a:r>
            <a:r>
              <a:rPr lang="es-CO" dirty="0">
                <a:solidFill>
                  <a:schemeClr val="tx1"/>
                </a:solidFill>
              </a:rPr>
              <a:t>.</a:t>
            </a:r>
          </a:p>
        </p:txBody>
      </p:sp>
      <p:pic>
        <p:nvPicPr>
          <p:cNvPr id="5" name="Imagen 4">
            <a:extLst>
              <a:ext uri="{FF2B5EF4-FFF2-40B4-BE49-F238E27FC236}">
                <a16:creationId xmlns:a16="http://schemas.microsoft.com/office/drawing/2014/main" id="{BE79688A-06BE-4395-8307-1DB4D59FCF3E}"/>
              </a:ext>
            </a:extLst>
          </p:cNvPr>
          <p:cNvPicPr>
            <a:picLocks noChangeAspect="1"/>
          </p:cNvPicPr>
          <p:nvPr/>
        </p:nvPicPr>
        <p:blipFill>
          <a:blip r:embed="rId2"/>
          <a:stretch>
            <a:fillRect/>
          </a:stretch>
        </p:blipFill>
        <p:spPr>
          <a:xfrm>
            <a:off x="3289185" y="2581275"/>
            <a:ext cx="5613629" cy="4067174"/>
          </a:xfrm>
          <a:prstGeom prst="rect">
            <a:avLst/>
          </a:prstGeom>
        </p:spPr>
      </p:pic>
    </p:spTree>
    <p:extLst>
      <p:ext uri="{BB962C8B-B14F-4D97-AF65-F5344CB8AC3E}">
        <p14:creationId xmlns:p14="http://schemas.microsoft.com/office/powerpoint/2010/main" val="3829656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7B84A27-728E-492A-B9D6-5D01B1BCFBA4}"/>
              </a:ext>
            </a:extLst>
          </p:cNvPr>
          <p:cNvSpPr>
            <a:spLocks noGrp="1"/>
          </p:cNvSpPr>
          <p:nvPr>
            <p:ph idx="1"/>
          </p:nvPr>
        </p:nvSpPr>
        <p:spPr>
          <a:xfrm>
            <a:off x="1251678" y="381000"/>
            <a:ext cx="10178322" cy="6038849"/>
          </a:xfrm>
        </p:spPr>
        <p:txBody>
          <a:bodyPr/>
          <a:lstStyle/>
          <a:p>
            <a:pPr marL="0" indent="0">
              <a:buNone/>
            </a:pPr>
            <a:r>
              <a:rPr lang="es-CO" dirty="0">
                <a:solidFill>
                  <a:srgbClr val="FF0000"/>
                </a:solidFill>
              </a:rPr>
              <a:t>Paso 3</a:t>
            </a:r>
          </a:p>
          <a:p>
            <a:r>
              <a:rPr lang="es-CO" dirty="0">
                <a:solidFill>
                  <a:schemeClr val="tx1"/>
                </a:solidFill>
              </a:rPr>
              <a:t>Ahora, abriremos la pestaña de la base de datos, nos dirigimos a </a:t>
            </a:r>
            <a:r>
              <a:rPr lang="es-CO" dirty="0" err="1">
                <a:solidFill>
                  <a:schemeClr val="tx1"/>
                </a:solidFill>
              </a:rPr>
              <a:t>Schemas</a:t>
            </a:r>
            <a:r>
              <a:rPr lang="es-CO" dirty="0">
                <a:solidFill>
                  <a:schemeClr val="tx1"/>
                </a:solidFill>
              </a:rPr>
              <a:t>.  Al abrir esta pestaña nos aparecerá otra llamada </a:t>
            </a:r>
            <a:r>
              <a:rPr lang="es-CO" dirty="0" err="1">
                <a:solidFill>
                  <a:schemeClr val="tx1"/>
                </a:solidFill>
              </a:rPr>
              <a:t>public</a:t>
            </a:r>
            <a:r>
              <a:rPr lang="es-CO" dirty="0">
                <a:solidFill>
                  <a:schemeClr val="tx1"/>
                </a:solidFill>
              </a:rPr>
              <a:t>, se dará clic derecho y le daremos en la opción CREATE Script.</a:t>
            </a:r>
          </a:p>
        </p:txBody>
      </p:sp>
      <p:pic>
        <p:nvPicPr>
          <p:cNvPr id="7" name="Imagen 6">
            <a:extLst>
              <a:ext uri="{FF2B5EF4-FFF2-40B4-BE49-F238E27FC236}">
                <a16:creationId xmlns:a16="http://schemas.microsoft.com/office/drawing/2014/main" id="{8CD0C9F4-2971-48EA-86E0-E370F9EA8E1F}"/>
              </a:ext>
            </a:extLst>
          </p:cNvPr>
          <p:cNvPicPr>
            <a:picLocks noChangeAspect="1"/>
          </p:cNvPicPr>
          <p:nvPr/>
        </p:nvPicPr>
        <p:blipFill>
          <a:blip r:embed="rId2"/>
          <a:stretch>
            <a:fillRect/>
          </a:stretch>
        </p:blipFill>
        <p:spPr>
          <a:xfrm>
            <a:off x="3105711" y="2305889"/>
            <a:ext cx="5980577" cy="4333035"/>
          </a:xfrm>
          <a:prstGeom prst="rect">
            <a:avLst/>
          </a:prstGeom>
        </p:spPr>
      </p:pic>
    </p:spTree>
    <p:extLst>
      <p:ext uri="{BB962C8B-B14F-4D97-AF65-F5344CB8AC3E}">
        <p14:creationId xmlns:p14="http://schemas.microsoft.com/office/powerpoint/2010/main" val="2981525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86034C1-BA33-4EA4-ABED-8FA804D1F39B}"/>
              </a:ext>
            </a:extLst>
          </p:cNvPr>
          <p:cNvSpPr>
            <a:spLocks noGrp="1"/>
          </p:cNvSpPr>
          <p:nvPr>
            <p:ph idx="1"/>
          </p:nvPr>
        </p:nvSpPr>
        <p:spPr>
          <a:xfrm>
            <a:off x="1251678" y="79376"/>
            <a:ext cx="10178322" cy="5962650"/>
          </a:xfrm>
        </p:spPr>
        <p:txBody>
          <a:bodyPr/>
          <a:lstStyle/>
          <a:p>
            <a:pPr marL="0" indent="0">
              <a:buNone/>
            </a:pPr>
            <a:r>
              <a:rPr lang="es-CO" dirty="0">
                <a:solidFill>
                  <a:srgbClr val="FF0000"/>
                </a:solidFill>
              </a:rPr>
              <a:t>Paso 4</a:t>
            </a:r>
          </a:p>
          <a:p>
            <a:r>
              <a:rPr lang="es-CO" dirty="0">
                <a:solidFill>
                  <a:schemeClr val="tx1"/>
                </a:solidFill>
              </a:rPr>
              <a:t>Del archivo comprimido, nos dirigimos a la carpeta llamada </a:t>
            </a:r>
            <a:r>
              <a:rPr lang="es-CO" dirty="0" err="1">
                <a:solidFill>
                  <a:schemeClr val="tx1"/>
                </a:solidFill>
              </a:rPr>
              <a:t>SistemaBD</a:t>
            </a:r>
            <a:r>
              <a:rPr lang="es-CO" dirty="0">
                <a:solidFill>
                  <a:schemeClr val="tx1"/>
                </a:solidFill>
              </a:rPr>
              <a:t> y de ahí abrimos el archivo llamado Sistema con el Bloc de notas.</a:t>
            </a:r>
          </a:p>
          <a:p>
            <a:r>
              <a:rPr lang="es-CO" dirty="0">
                <a:solidFill>
                  <a:schemeClr val="tx1"/>
                </a:solidFill>
              </a:rPr>
              <a:t>Copiamos todo el contenido del documento y lo pegamos en la ventana que se abrió en el </a:t>
            </a:r>
            <a:r>
              <a:rPr lang="es-CO" dirty="0" err="1">
                <a:solidFill>
                  <a:schemeClr val="tx1"/>
                </a:solidFill>
              </a:rPr>
              <a:t>pgAdmin</a:t>
            </a:r>
            <a:r>
              <a:rPr lang="es-CO" dirty="0">
                <a:solidFill>
                  <a:schemeClr val="tx1"/>
                </a:solidFill>
              </a:rPr>
              <a:t> con el CREATE Script.</a:t>
            </a:r>
          </a:p>
          <a:p>
            <a:r>
              <a:rPr lang="es-CO" dirty="0">
                <a:solidFill>
                  <a:schemeClr val="tx1"/>
                </a:solidFill>
              </a:rPr>
              <a:t>En el </a:t>
            </a:r>
            <a:r>
              <a:rPr lang="es-CO" dirty="0" err="1">
                <a:solidFill>
                  <a:schemeClr val="tx1"/>
                </a:solidFill>
              </a:rPr>
              <a:t>pgAdmin</a:t>
            </a:r>
            <a:r>
              <a:rPr lang="es-CO" dirty="0">
                <a:solidFill>
                  <a:schemeClr val="tx1"/>
                </a:solidFill>
              </a:rPr>
              <a:t> oprimimos F5 para que se ejecute toda la información y </a:t>
            </a:r>
            <a:r>
              <a:rPr lang="es-CO" dirty="0" err="1">
                <a:solidFill>
                  <a:schemeClr val="tx1"/>
                </a:solidFill>
              </a:rPr>
              <a:t>asi</a:t>
            </a:r>
            <a:r>
              <a:rPr lang="es-CO" dirty="0">
                <a:solidFill>
                  <a:schemeClr val="tx1"/>
                </a:solidFill>
              </a:rPr>
              <a:t> crear todas las tablas con los usuarios administrador de la base de datos. Con esto ya tendremos lista la base de datos.</a:t>
            </a:r>
          </a:p>
        </p:txBody>
      </p:sp>
      <p:pic>
        <p:nvPicPr>
          <p:cNvPr id="9" name="Imagen 8">
            <a:extLst>
              <a:ext uri="{FF2B5EF4-FFF2-40B4-BE49-F238E27FC236}">
                <a16:creationId xmlns:a16="http://schemas.microsoft.com/office/drawing/2014/main" id="{B0105596-25A5-4508-9FD0-39A56DF3C2DB}"/>
              </a:ext>
            </a:extLst>
          </p:cNvPr>
          <p:cNvPicPr>
            <a:picLocks noChangeAspect="1"/>
          </p:cNvPicPr>
          <p:nvPr/>
        </p:nvPicPr>
        <p:blipFill>
          <a:blip r:embed="rId2"/>
          <a:stretch>
            <a:fillRect/>
          </a:stretch>
        </p:blipFill>
        <p:spPr>
          <a:xfrm>
            <a:off x="2623278" y="3060701"/>
            <a:ext cx="7435122" cy="3521074"/>
          </a:xfrm>
          <a:prstGeom prst="rect">
            <a:avLst/>
          </a:prstGeom>
        </p:spPr>
      </p:pic>
    </p:spTree>
    <p:extLst>
      <p:ext uri="{BB962C8B-B14F-4D97-AF65-F5344CB8AC3E}">
        <p14:creationId xmlns:p14="http://schemas.microsoft.com/office/powerpoint/2010/main" val="3676008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CO" dirty="0" smtClean="0"/>
              <a:t>ABRIR ARCHIVO EJECUTABLE</a:t>
            </a:r>
            <a:endParaRPr lang="en-US" dirty="0"/>
          </a:p>
        </p:txBody>
      </p:sp>
    </p:spTree>
    <p:extLst>
      <p:ext uri="{BB962C8B-B14F-4D97-AF65-F5344CB8AC3E}">
        <p14:creationId xmlns:p14="http://schemas.microsoft.com/office/powerpoint/2010/main" val="2879310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51678" y="263237"/>
            <a:ext cx="10178322" cy="1330036"/>
          </a:xfrm>
        </p:spPr>
        <p:txBody>
          <a:bodyPr/>
          <a:lstStyle/>
          <a:p>
            <a:r>
              <a:rPr lang="es-CO" dirty="0" smtClean="0">
                <a:solidFill>
                  <a:srgbClr val="FF0000"/>
                </a:solidFill>
              </a:rPr>
              <a:t>Paso 1:</a:t>
            </a:r>
          </a:p>
          <a:p>
            <a:pPr marL="0" indent="0">
              <a:buNone/>
            </a:pPr>
            <a:r>
              <a:rPr lang="es-CO" dirty="0" smtClean="0">
                <a:solidFill>
                  <a:schemeClr val="tx1"/>
                </a:solidFill>
              </a:rPr>
              <a:t>Nos dirigimos a la carpeta  “Proyecto”</a:t>
            </a:r>
            <a:endParaRPr lang="en-US" dirty="0">
              <a:solidFill>
                <a:schemeClr val="tx1"/>
              </a:solidFill>
            </a:endParaRPr>
          </a:p>
        </p:txBody>
      </p:sp>
      <p:pic>
        <p:nvPicPr>
          <p:cNvPr id="4" name="Imagen 3"/>
          <p:cNvPicPr>
            <a:picLocks noChangeAspect="1"/>
          </p:cNvPicPr>
          <p:nvPr/>
        </p:nvPicPr>
        <p:blipFill>
          <a:blip r:embed="rId2"/>
          <a:stretch>
            <a:fillRect/>
          </a:stretch>
        </p:blipFill>
        <p:spPr>
          <a:xfrm>
            <a:off x="1582016" y="1821873"/>
            <a:ext cx="6838950" cy="1828800"/>
          </a:xfrm>
          <a:prstGeom prst="rect">
            <a:avLst/>
          </a:prstGeom>
        </p:spPr>
      </p:pic>
      <p:pic>
        <p:nvPicPr>
          <p:cNvPr id="5" name="Imagen 4"/>
          <p:cNvPicPr>
            <a:picLocks noChangeAspect="1"/>
          </p:cNvPicPr>
          <p:nvPr/>
        </p:nvPicPr>
        <p:blipFill>
          <a:blip r:embed="rId3"/>
          <a:stretch>
            <a:fillRect/>
          </a:stretch>
        </p:blipFill>
        <p:spPr>
          <a:xfrm>
            <a:off x="1582016" y="5431847"/>
            <a:ext cx="6848475" cy="1009650"/>
          </a:xfrm>
          <a:prstGeom prst="rect">
            <a:avLst/>
          </a:prstGeom>
        </p:spPr>
      </p:pic>
      <p:sp>
        <p:nvSpPr>
          <p:cNvPr id="6" name="Rectángulo 5"/>
          <p:cNvSpPr/>
          <p:nvPr/>
        </p:nvSpPr>
        <p:spPr>
          <a:xfrm>
            <a:off x="1357746" y="4218094"/>
            <a:ext cx="6096000" cy="646331"/>
          </a:xfrm>
          <a:prstGeom prst="rect">
            <a:avLst/>
          </a:prstGeom>
        </p:spPr>
        <p:txBody>
          <a:bodyPr>
            <a:spAutoFit/>
          </a:bodyPr>
          <a:lstStyle/>
          <a:p>
            <a:r>
              <a:rPr lang="es-CO" dirty="0">
                <a:solidFill>
                  <a:srgbClr val="FF0000"/>
                </a:solidFill>
              </a:rPr>
              <a:t>Paso </a:t>
            </a:r>
            <a:r>
              <a:rPr lang="es-CO" dirty="0" smtClean="0">
                <a:solidFill>
                  <a:srgbClr val="FF0000"/>
                </a:solidFill>
              </a:rPr>
              <a:t>2:</a:t>
            </a:r>
            <a:endParaRPr lang="es-CO" dirty="0">
              <a:solidFill>
                <a:srgbClr val="FF0000"/>
              </a:solidFill>
            </a:endParaRPr>
          </a:p>
          <a:p>
            <a:r>
              <a:rPr lang="es-CO" dirty="0" smtClean="0"/>
              <a:t>Abrimos la carpeta   </a:t>
            </a:r>
            <a:r>
              <a:rPr lang="es-CO" dirty="0"/>
              <a:t>“</a:t>
            </a:r>
            <a:r>
              <a:rPr lang="es-CO" dirty="0" err="1" smtClean="0"/>
              <a:t>ProyectoAula</a:t>
            </a:r>
            <a:r>
              <a:rPr lang="es-CO" dirty="0" smtClean="0"/>
              <a:t>”</a:t>
            </a:r>
            <a:endParaRPr lang="en-US" dirty="0"/>
          </a:p>
        </p:txBody>
      </p:sp>
    </p:spTree>
    <p:extLst>
      <p:ext uri="{BB962C8B-B14F-4D97-AF65-F5344CB8AC3E}">
        <p14:creationId xmlns:p14="http://schemas.microsoft.com/office/powerpoint/2010/main" val="816577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51678" y="471055"/>
            <a:ext cx="10178322" cy="5408537"/>
          </a:xfrm>
        </p:spPr>
        <p:txBody>
          <a:bodyPr/>
          <a:lstStyle/>
          <a:p>
            <a:r>
              <a:rPr lang="es-CO" dirty="0" smtClean="0">
                <a:solidFill>
                  <a:srgbClr val="FF0000"/>
                </a:solidFill>
              </a:rPr>
              <a:t>Paso 3</a:t>
            </a:r>
          </a:p>
          <a:p>
            <a:pPr marL="0" indent="0">
              <a:buNone/>
            </a:pPr>
            <a:r>
              <a:rPr lang="es-CO" dirty="0" smtClean="0">
                <a:solidFill>
                  <a:schemeClr val="tx1"/>
                </a:solidFill>
              </a:rPr>
              <a:t>Abrimos la carpeta “</a:t>
            </a:r>
            <a:r>
              <a:rPr lang="es-CO" dirty="0" err="1" smtClean="0">
                <a:solidFill>
                  <a:schemeClr val="tx1"/>
                </a:solidFill>
              </a:rPr>
              <a:t>dist</a:t>
            </a:r>
            <a:r>
              <a:rPr lang="es-CO" dirty="0" smtClean="0">
                <a:solidFill>
                  <a:schemeClr val="tx1"/>
                </a:solidFill>
              </a:rPr>
              <a:t>”</a:t>
            </a:r>
          </a:p>
          <a:p>
            <a:pPr marL="0" indent="0">
              <a:buNone/>
            </a:pPr>
            <a:endParaRPr lang="es-CO" dirty="0">
              <a:solidFill>
                <a:srgbClr val="FF0000"/>
              </a:solidFill>
            </a:endParaRPr>
          </a:p>
          <a:p>
            <a:pPr marL="0" indent="0">
              <a:buNone/>
            </a:pPr>
            <a:endParaRPr lang="es-CO" dirty="0" smtClean="0">
              <a:solidFill>
                <a:srgbClr val="FF0000"/>
              </a:solidFill>
            </a:endParaRPr>
          </a:p>
          <a:p>
            <a:pPr marL="0" indent="0">
              <a:buNone/>
            </a:pPr>
            <a:endParaRPr lang="es-CO" dirty="0">
              <a:solidFill>
                <a:srgbClr val="FF0000"/>
              </a:solidFill>
            </a:endParaRPr>
          </a:p>
          <a:p>
            <a:pPr marL="0" indent="0">
              <a:buNone/>
            </a:pPr>
            <a:endParaRPr lang="es-CO" dirty="0" smtClean="0">
              <a:solidFill>
                <a:srgbClr val="FF0000"/>
              </a:solidFill>
            </a:endParaRPr>
          </a:p>
          <a:p>
            <a:pPr marL="0" indent="0">
              <a:buNone/>
            </a:pPr>
            <a:endParaRPr lang="es-CO" dirty="0">
              <a:solidFill>
                <a:srgbClr val="FF0000"/>
              </a:solidFill>
            </a:endParaRPr>
          </a:p>
          <a:p>
            <a:pPr marL="0" indent="0">
              <a:buNone/>
            </a:pPr>
            <a:endParaRPr lang="es-CO" dirty="0" smtClean="0">
              <a:solidFill>
                <a:srgbClr val="FF0000"/>
              </a:solidFill>
            </a:endParaRPr>
          </a:p>
          <a:p>
            <a:pPr marL="0" indent="0">
              <a:buNone/>
            </a:pPr>
            <a:endParaRPr lang="es-CO" dirty="0">
              <a:solidFill>
                <a:srgbClr val="FF0000"/>
              </a:solidFill>
            </a:endParaRPr>
          </a:p>
          <a:p>
            <a:pPr marL="0" indent="0">
              <a:buNone/>
            </a:pPr>
            <a:r>
              <a:rPr lang="es-CO" dirty="0" smtClean="0">
                <a:solidFill>
                  <a:srgbClr val="FF0000"/>
                </a:solidFill>
              </a:rPr>
              <a:t>Paso 4:</a:t>
            </a:r>
          </a:p>
          <a:p>
            <a:pPr marL="0" indent="0">
              <a:buNone/>
            </a:pPr>
            <a:r>
              <a:rPr lang="es-CO" dirty="0" smtClean="0">
                <a:solidFill>
                  <a:schemeClr val="tx1"/>
                </a:solidFill>
              </a:rPr>
              <a:t>Damos doble </a:t>
            </a:r>
            <a:r>
              <a:rPr lang="es-CO" dirty="0" err="1" smtClean="0">
                <a:solidFill>
                  <a:schemeClr val="tx1"/>
                </a:solidFill>
              </a:rPr>
              <a:t>click</a:t>
            </a:r>
            <a:r>
              <a:rPr lang="es-CO" dirty="0" smtClean="0">
                <a:solidFill>
                  <a:schemeClr val="tx1"/>
                </a:solidFill>
              </a:rPr>
              <a:t> para que nuestro proyecto se ejecute </a:t>
            </a:r>
            <a:endParaRPr lang="es-CO" dirty="0">
              <a:solidFill>
                <a:schemeClr val="tx1"/>
              </a:solidFill>
            </a:endParaRPr>
          </a:p>
          <a:p>
            <a:pPr marL="0" indent="0">
              <a:buNone/>
            </a:pPr>
            <a:endParaRPr lang="en-US" dirty="0">
              <a:solidFill>
                <a:srgbClr val="FF0000"/>
              </a:solidFill>
            </a:endParaRPr>
          </a:p>
        </p:txBody>
      </p:sp>
      <p:pic>
        <p:nvPicPr>
          <p:cNvPr id="4" name="Imagen 3"/>
          <p:cNvPicPr>
            <a:picLocks noChangeAspect="1"/>
          </p:cNvPicPr>
          <p:nvPr/>
        </p:nvPicPr>
        <p:blipFill>
          <a:blip r:embed="rId2"/>
          <a:stretch>
            <a:fillRect/>
          </a:stretch>
        </p:blipFill>
        <p:spPr>
          <a:xfrm>
            <a:off x="1251678" y="1689423"/>
            <a:ext cx="7305675" cy="2057400"/>
          </a:xfrm>
          <a:prstGeom prst="rect">
            <a:avLst/>
          </a:prstGeom>
        </p:spPr>
      </p:pic>
      <p:pic>
        <p:nvPicPr>
          <p:cNvPr id="5" name="Imagen 4"/>
          <p:cNvPicPr>
            <a:picLocks noChangeAspect="1"/>
          </p:cNvPicPr>
          <p:nvPr/>
        </p:nvPicPr>
        <p:blipFill rotWithShape="1">
          <a:blip r:embed="rId3"/>
          <a:srcRect l="126" t="7253"/>
          <a:stretch/>
        </p:blipFill>
        <p:spPr>
          <a:xfrm>
            <a:off x="1260764" y="5333999"/>
            <a:ext cx="7210864" cy="1183767"/>
          </a:xfrm>
          <a:prstGeom prst="rect">
            <a:avLst/>
          </a:prstGeom>
        </p:spPr>
      </p:pic>
    </p:spTree>
    <p:extLst>
      <p:ext uri="{BB962C8B-B14F-4D97-AF65-F5344CB8AC3E}">
        <p14:creationId xmlns:p14="http://schemas.microsoft.com/office/powerpoint/2010/main" val="3746132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357437" y="857682"/>
            <a:ext cx="7477125" cy="5114925"/>
          </a:xfrm>
          <a:prstGeom prst="rect">
            <a:avLst/>
          </a:prstGeom>
        </p:spPr>
      </p:pic>
    </p:spTree>
    <p:extLst>
      <p:ext uri="{BB962C8B-B14F-4D97-AF65-F5344CB8AC3E}">
        <p14:creationId xmlns:p14="http://schemas.microsoft.com/office/powerpoint/2010/main" val="2250701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77682D-B764-4F54-B795-2A1F10ADE2A2}"/>
              </a:ext>
            </a:extLst>
          </p:cNvPr>
          <p:cNvSpPr>
            <a:spLocks noGrp="1"/>
          </p:cNvSpPr>
          <p:nvPr>
            <p:ph type="ctrTitle"/>
          </p:nvPr>
        </p:nvSpPr>
        <p:spPr>
          <a:xfrm>
            <a:off x="1078523" y="609600"/>
            <a:ext cx="10318418" cy="5686425"/>
          </a:xfrm>
        </p:spPr>
        <p:txBody>
          <a:bodyPr/>
          <a:lstStyle/>
          <a:p>
            <a:r>
              <a:rPr lang="es-CO" dirty="0" smtClean="0"/>
              <a:t>ABRIR </a:t>
            </a:r>
            <a:r>
              <a:rPr lang="es-CO" dirty="0"/>
              <a:t>PROYECTO </a:t>
            </a:r>
            <a:r>
              <a:rPr lang="es-CO" dirty="0" smtClean="0"/>
              <a:t>EN nETBEANS</a:t>
            </a:r>
            <a:endParaRPr lang="es-CO" dirty="0"/>
          </a:p>
        </p:txBody>
      </p:sp>
    </p:spTree>
    <p:extLst>
      <p:ext uri="{BB962C8B-B14F-4D97-AF65-F5344CB8AC3E}">
        <p14:creationId xmlns:p14="http://schemas.microsoft.com/office/powerpoint/2010/main" val="2289990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83BFA9C-754C-42B1-9BC0-F4FCE33E78C2}"/>
              </a:ext>
            </a:extLst>
          </p:cNvPr>
          <p:cNvSpPr>
            <a:spLocks noGrp="1"/>
          </p:cNvSpPr>
          <p:nvPr>
            <p:ph idx="1"/>
          </p:nvPr>
        </p:nvSpPr>
        <p:spPr>
          <a:xfrm>
            <a:off x="1114425" y="485775"/>
            <a:ext cx="10325100" cy="6057899"/>
          </a:xfrm>
        </p:spPr>
        <p:txBody>
          <a:bodyPr/>
          <a:lstStyle/>
          <a:p>
            <a:pPr marL="0" indent="0">
              <a:buNone/>
            </a:pPr>
            <a:r>
              <a:rPr lang="es-CO" dirty="0">
                <a:solidFill>
                  <a:srgbClr val="FF0000"/>
                </a:solidFill>
              </a:rPr>
              <a:t>Paso 1</a:t>
            </a:r>
          </a:p>
          <a:p>
            <a:r>
              <a:rPr lang="es-CO" dirty="0">
                <a:solidFill>
                  <a:schemeClr val="tx1"/>
                </a:solidFill>
              </a:rPr>
              <a:t>Para la creación del proyecto en </a:t>
            </a:r>
            <a:r>
              <a:rPr lang="es-CO" dirty="0" err="1">
                <a:solidFill>
                  <a:schemeClr val="tx1"/>
                </a:solidFill>
              </a:rPr>
              <a:t>NetBeans</a:t>
            </a:r>
            <a:r>
              <a:rPr lang="es-CO" dirty="0">
                <a:solidFill>
                  <a:schemeClr val="tx1"/>
                </a:solidFill>
              </a:rPr>
              <a:t> se hará lo siguiente:</a:t>
            </a:r>
          </a:p>
          <a:p>
            <a:r>
              <a:rPr lang="es-CO" dirty="0">
                <a:solidFill>
                  <a:schemeClr val="tx1"/>
                </a:solidFill>
              </a:rPr>
              <a:t>Descomprimimos el archivo llamado ProyectoAula.  Al hacerlo generara una carpeta la cual contiene el mismo nombre.</a:t>
            </a:r>
          </a:p>
          <a:p>
            <a:pPr marL="0" indent="0">
              <a:buNone/>
            </a:pPr>
            <a:endParaRPr lang="es-CO" dirty="0">
              <a:solidFill>
                <a:schemeClr val="tx1"/>
              </a:solidFill>
            </a:endParaRPr>
          </a:p>
        </p:txBody>
      </p:sp>
      <p:pic>
        <p:nvPicPr>
          <p:cNvPr id="5" name="Imagen 4">
            <a:extLst>
              <a:ext uri="{FF2B5EF4-FFF2-40B4-BE49-F238E27FC236}">
                <a16:creationId xmlns:a16="http://schemas.microsoft.com/office/drawing/2014/main" id="{F380F439-A040-457B-95FB-E59771E35FA1}"/>
              </a:ext>
            </a:extLst>
          </p:cNvPr>
          <p:cNvPicPr>
            <a:picLocks noChangeAspect="1"/>
          </p:cNvPicPr>
          <p:nvPr/>
        </p:nvPicPr>
        <p:blipFill>
          <a:blip r:embed="rId2"/>
          <a:stretch>
            <a:fillRect/>
          </a:stretch>
        </p:blipFill>
        <p:spPr>
          <a:xfrm>
            <a:off x="2750062" y="2386013"/>
            <a:ext cx="6112950" cy="3986212"/>
          </a:xfrm>
          <a:prstGeom prst="rect">
            <a:avLst/>
          </a:prstGeom>
        </p:spPr>
      </p:pic>
    </p:spTree>
    <p:extLst>
      <p:ext uri="{BB962C8B-B14F-4D97-AF65-F5344CB8AC3E}">
        <p14:creationId xmlns:p14="http://schemas.microsoft.com/office/powerpoint/2010/main" val="900007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FCC44FD-1C3F-4834-B96A-C2C6F323204D}"/>
              </a:ext>
            </a:extLst>
          </p:cNvPr>
          <p:cNvSpPr>
            <a:spLocks noGrp="1"/>
          </p:cNvSpPr>
          <p:nvPr>
            <p:ph idx="1"/>
          </p:nvPr>
        </p:nvSpPr>
        <p:spPr>
          <a:xfrm>
            <a:off x="1251678" y="304800"/>
            <a:ext cx="10178322" cy="6324599"/>
          </a:xfrm>
        </p:spPr>
        <p:txBody>
          <a:bodyPr/>
          <a:lstStyle/>
          <a:p>
            <a:pPr marL="0" indent="0">
              <a:buNone/>
            </a:pPr>
            <a:r>
              <a:rPr lang="es-CO" dirty="0">
                <a:solidFill>
                  <a:srgbClr val="FF0000"/>
                </a:solidFill>
              </a:rPr>
              <a:t>Paso 2</a:t>
            </a:r>
          </a:p>
          <a:p>
            <a:r>
              <a:rPr lang="es-CO" dirty="0">
                <a:solidFill>
                  <a:schemeClr val="tx1"/>
                </a:solidFill>
              </a:rPr>
              <a:t>Nos dirigimos a la esquina superior izquierda y le daremos a Open Project para buscar la carpeta descomprimida</a:t>
            </a:r>
          </a:p>
          <a:p>
            <a:endParaRPr lang="es-CO" dirty="0"/>
          </a:p>
        </p:txBody>
      </p:sp>
      <p:pic>
        <p:nvPicPr>
          <p:cNvPr id="5" name="Imagen 4">
            <a:extLst>
              <a:ext uri="{FF2B5EF4-FFF2-40B4-BE49-F238E27FC236}">
                <a16:creationId xmlns:a16="http://schemas.microsoft.com/office/drawing/2014/main" id="{03D19BCF-C92C-4177-9EB4-BF926826AA41}"/>
              </a:ext>
            </a:extLst>
          </p:cNvPr>
          <p:cNvPicPr>
            <a:picLocks noChangeAspect="1"/>
          </p:cNvPicPr>
          <p:nvPr/>
        </p:nvPicPr>
        <p:blipFill rotWithShape="1">
          <a:blip r:embed="rId2"/>
          <a:srcRect l="8125" t="2729" r="24841" b="3702"/>
          <a:stretch/>
        </p:blipFill>
        <p:spPr>
          <a:xfrm>
            <a:off x="2800350" y="1571624"/>
            <a:ext cx="6591299" cy="5175241"/>
          </a:xfrm>
          <a:prstGeom prst="rect">
            <a:avLst/>
          </a:prstGeom>
        </p:spPr>
      </p:pic>
    </p:spTree>
    <p:extLst>
      <p:ext uri="{BB962C8B-B14F-4D97-AF65-F5344CB8AC3E}">
        <p14:creationId xmlns:p14="http://schemas.microsoft.com/office/powerpoint/2010/main" val="852373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08715ED-02D6-4B7F-9AE9-9023981C1B30}"/>
              </a:ext>
            </a:extLst>
          </p:cNvPr>
          <p:cNvSpPr>
            <a:spLocks noGrp="1"/>
          </p:cNvSpPr>
          <p:nvPr>
            <p:ph idx="1"/>
          </p:nvPr>
        </p:nvSpPr>
        <p:spPr>
          <a:xfrm>
            <a:off x="1251678" y="333375"/>
            <a:ext cx="10178322" cy="6219825"/>
          </a:xfrm>
        </p:spPr>
        <p:txBody>
          <a:bodyPr/>
          <a:lstStyle/>
          <a:p>
            <a:pPr marL="0" indent="0">
              <a:buNone/>
            </a:pPr>
            <a:r>
              <a:rPr lang="es-CO" dirty="0">
                <a:solidFill>
                  <a:srgbClr val="FF0000"/>
                </a:solidFill>
              </a:rPr>
              <a:t>Paso 3</a:t>
            </a:r>
          </a:p>
          <a:p>
            <a:r>
              <a:rPr lang="es-CO" dirty="0">
                <a:solidFill>
                  <a:schemeClr val="tx1"/>
                </a:solidFill>
              </a:rPr>
              <a:t>En el cuadro que nos salió, tendremos que buscar donde descomprimimos el archivo, y ya teniéndolo localizado, lo seleccionamos y le daremos a Open Project.</a:t>
            </a:r>
          </a:p>
        </p:txBody>
      </p:sp>
      <p:pic>
        <p:nvPicPr>
          <p:cNvPr id="5" name="Imagen 4">
            <a:extLst>
              <a:ext uri="{FF2B5EF4-FFF2-40B4-BE49-F238E27FC236}">
                <a16:creationId xmlns:a16="http://schemas.microsoft.com/office/drawing/2014/main" id="{569C27DA-4B59-40CA-B6BC-1B655DEF81CF}"/>
              </a:ext>
            </a:extLst>
          </p:cNvPr>
          <p:cNvPicPr>
            <a:picLocks noChangeAspect="1"/>
          </p:cNvPicPr>
          <p:nvPr/>
        </p:nvPicPr>
        <p:blipFill>
          <a:blip r:embed="rId2"/>
          <a:stretch>
            <a:fillRect/>
          </a:stretch>
        </p:blipFill>
        <p:spPr>
          <a:xfrm>
            <a:off x="3078590" y="1819275"/>
            <a:ext cx="6034820" cy="4857750"/>
          </a:xfrm>
          <a:prstGeom prst="rect">
            <a:avLst/>
          </a:prstGeom>
        </p:spPr>
      </p:pic>
    </p:spTree>
    <p:extLst>
      <p:ext uri="{BB962C8B-B14F-4D97-AF65-F5344CB8AC3E}">
        <p14:creationId xmlns:p14="http://schemas.microsoft.com/office/powerpoint/2010/main" val="3800664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7827B8A-BA8A-488C-8EDA-07DF7A3A4ABC}"/>
              </a:ext>
            </a:extLst>
          </p:cNvPr>
          <p:cNvSpPr>
            <a:spLocks noGrp="1"/>
          </p:cNvSpPr>
          <p:nvPr>
            <p:ph idx="1"/>
          </p:nvPr>
        </p:nvSpPr>
        <p:spPr>
          <a:xfrm>
            <a:off x="1251678" y="333375"/>
            <a:ext cx="10178322" cy="6286500"/>
          </a:xfrm>
        </p:spPr>
        <p:txBody>
          <a:bodyPr/>
          <a:lstStyle/>
          <a:p>
            <a:pPr marL="0" indent="0">
              <a:buNone/>
            </a:pPr>
            <a:r>
              <a:rPr lang="es-CO" dirty="0">
                <a:solidFill>
                  <a:srgbClr val="FF0000"/>
                </a:solidFill>
              </a:rPr>
              <a:t>Paso 5</a:t>
            </a:r>
          </a:p>
          <a:p>
            <a:r>
              <a:rPr lang="es-CO" dirty="0">
                <a:solidFill>
                  <a:schemeClr val="tx1"/>
                </a:solidFill>
              </a:rPr>
              <a:t>Volvemos a la carpeta Proyecto Aula.</a:t>
            </a:r>
          </a:p>
          <a:p>
            <a:r>
              <a:rPr lang="es-CO" dirty="0">
                <a:solidFill>
                  <a:schemeClr val="tx1"/>
                </a:solidFill>
              </a:rPr>
              <a:t>Descomprimimos el archivo llamado Jcalendar el cual nos dejara un archivo </a:t>
            </a:r>
            <a:r>
              <a:rPr lang="es-CO" dirty="0" err="1">
                <a:solidFill>
                  <a:schemeClr val="tx1"/>
                </a:solidFill>
              </a:rPr>
              <a:t>jar</a:t>
            </a:r>
            <a:r>
              <a:rPr lang="es-CO" dirty="0">
                <a:solidFill>
                  <a:schemeClr val="tx1"/>
                </a:solidFill>
              </a:rPr>
              <a:t>.</a:t>
            </a:r>
          </a:p>
          <a:p>
            <a:endParaRPr lang="es-CO" dirty="0"/>
          </a:p>
        </p:txBody>
      </p:sp>
      <p:pic>
        <p:nvPicPr>
          <p:cNvPr id="5" name="Imagen 4">
            <a:extLst>
              <a:ext uri="{FF2B5EF4-FFF2-40B4-BE49-F238E27FC236}">
                <a16:creationId xmlns:a16="http://schemas.microsoft.com/office/drawing/2014/main" id="{667981E6-7233-40C9-B6F5-0BD28E67A6CA}"/>
              </a:ext>
            </a:extLst>
          </p:cNvPr>
          <p:cNvPicPr>
            <a:picLocks noChangeAspect="1"/>
          </p:cNvPicPr>
          <p:nvPr/>
        </p:nvPicPr>
        <p:blipFill>
          <a:blip r:embed="rId2"/>
          <a:stretch>
            <a:fillRect/>
          </a:stretch>
        </p:blipFill>
        <p:spPr>
          <a:xfrm>
            <a:off x="2644468" y="1781175"/>
            <a:ext cx="6903063" cy="4510087"/>
          </a:xfrm>
          <a:prstGeom prst="rect">
            <a:avLst/>
          </a:prstGeom>
        </p:spPr>
      </p:pic>
    </p:spTree>
    <p:extLst>
      <p:ext uri="{BB962C8B-B14F-4D97-AF65-F5344CB8AC3E}">
        <p14:creationId xmlns:p14="http://schemas.microsoft.com/office/powerpoint/2010/main" val="3038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8A9E32F-5AFD-479A-940B-0081113C4E58}"/>
              </a:ext>
            </a:extLst>
          </p:cNvPr>
          <p:cNvSpPr>
            <a:spLocks noGrp="1"/>
          </p:cNvSpPr>
          <p:nvPr>
            <p:ph idx="1"/>
          </p:nvPr>
        </p:nvSpPr>
        <p:spPr>
          <a:xfrm>
            <a:off x="1251678" y="342900"/>
            <a:ext cx="10178322" cy="6115049"/>
          </a:xfrm>
        </p:spPr>
        <p:txBody>
          <a:bodyPr/>
          <a:lstStyle/>
          <a:p>
            <a:pPr marL="0" indent="0">
              <a:buNone/>
            </a:pPr>
            <a:r>
              <a:rPr lang="es-CO" dirty="0">
                <a:solidFill>
                  <a:srgbClr val="FF0000"/>
                </a:solidFill>
              </a:rPr>
              <a:t>Paso 4</a:t>
            </a:r>
          </a:p>
          <a:p>
            <a:r>
              <a:rPr lang="es-CO" dirty="0">
                <a:solidFill>
                  <a:schemeClr val="tx1"/>
                </a:solidFill>
              </a:rPr>
              <a:t>Ya después de abrir el proyecto nos saldrá una ventana de que el proyecto tiene problemas, le daremos clic a </a:t>
            </a:r>
            <a:r>
              <a:rPr lang="es-CO" dirty="0" err="1">
                <a:solidFill>
                  <a:schemeClr val="tx1"/>
                </a:solidFill>
              </a:rPr>
              <a:t>Resolve</a:t>
            </a:r>
            <a:r>
              <a:rPr lang="es-CO" dirty="0">
                <a:solidFill>
                  <a:schemeClr val="tx1"/>
                </a:solidFill>
              </a:rPr>
              <a:t> </a:t>
            </a:r>
            <a:r>
              <a:rPr lang="es-CO" dirty="0" err="1">
                <a:solidFill>
                  <a:schemeClr val="tx1"/>
                </a:solidFill>
              </a:rPr>
              <a:t>Problems</a:t>
            </a:r>
            <a:r>
              <a:rPr lang="es-CO" dirty="0">
                <a:solidFill>
                  <a:schemeClr val="tx1"/>
                </a:solidFill>
              </a:rPr>
              <a:t> lo cual nos abrirá otra ventana.</a:t>
            </a:r>
          </a:p>
          <a:p>
            <a:r>
              <a:rPr lang="es-CO" dirty="0">
                <a:solidFill>
                  <a:schemeClr val="tx1"/>
                </a:solidFill>
              </a:rPr>
              <a:t>Seleccionamos el problema que vincula el Jcalendar y le damos a </a:t>
            </a:r>
            <a:r>
              <a:rPr lang="es-CO" dirty="0" err="1">
                <a:solidFill>
                  <a:schemeClr val="tx1"/>
                </a:solidFill>
              </a:rPr>
              <a:t>Resolve</a:t>
            </a:r>
            <a:endParaRPr lang="es-CO" dirty="0">
              <a:solidFill>
                <a:schemeClr val="tx1"/>
              </a:solidFill>
            </a:endParaRPr>
          </a:p>
        </p:txBody>
      </p:sp>
      <p:pic>
        <p:nvPicPr>
          <p:cNvPr id="5" name="Imagen 4">
            <a:extLst>
              <a:ext uri="{FF2B5EF4-FFF2-40B4-BE49-F238E27FC236}">
                <a16:creationId xmlns:a16="http://schemas.microsoft.com/office/drawing/2014/main" id="{457E1551-6E0E-4008-93ED-B8B4E4F3F14C}"/>
              </a:ext>
            </a:extLst>
          </p:cNvPr>
          <p:cNvPicPr>
            <a:picLocks noChangeAspect="1"/>
          </p:cNvPicPr>
          <p:nvPr/>
        </p:nvPicPr>
        <p:blipFill>
          <a:blip r:embed="rId2"/>
          <a:stretch>
            <a:fillRect/>
          </a:stretch>
        </p:blipFill>
        <p:spPr>
          <a:xfrm>
            <a:off x="581831" y="2076844"/>
            <a:ext cx="5514169" cy="4438650"/>
          </a:xfrm>
          <a:prstGeom prst="rect">
            <a:avLst/>
          </a:prstGeom>
        </p:spPr>
      </p:pic>
      <p:pic>
        <p:nvPicPr>
          <p:cNvPr id="7" name="Imagen 6">
            <a:extLst>
              <a:ext uri="{FF2B5EF4-FFF2-40B4-BE49-F238E27FC236}">
                <a16:creationId xmlns:a16="http://schemas.microsoft.com/office/drawing/2014/main" id="{A929B733-7551-44E5-A9C5-11CD9112BCAD}"/>
              </a:ext>
            </a:extLst>
          </p:cNvPr>
          <p:cNvPicPr>
            <a:picLocks noChangeAspect="1"/>
          </p:cNvPicPr>
          <p:nvPr/>
        </p:nvPicPr>
        <p:blipFill>
          <a:blip r:embed="rId3"/>
          <a:stretch>
            <a:fillRect/>
          </a:stretch>
        </p:blipFill>
        <p:spPr>
          <a:xfrm>
            <a:off x="6340839" y="2076450"/>
            <a:ext cx="5515148" cy="4439438"/>
          </a:xfrm>
          <a:prstGeom prst="rect">
            <a:avLst/>
          </a:prstGeom>
        </p:spPr>
      </p:pic>
    </p:spTree>
    <p:extLst>
      <p:ext uri="{BB962C8B-B14F-4D97-AF65-F5344CB8AC3E}">
        <p14:creationId xmlns:p14="http://schemas.microsoft.com/office/powerpoint/2010/main" val="510954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DA4F72B-346F-41EF-B164-C4D445FF3CF2}"/>
              </a:ext>
            </a:extLst>
          </p:cNvPr>
          <p:cNvSpPr>
            <a:spLocks noGrp="1"/>
          </p:cNvSpPr>
          <p:nvPr>
            <p:ph idx="1"/>
          </p:nvPr>
        </p:nvSpPr>
        <p:spPr>
          <a:xfrm>
            <a:off x="1251678" y="285751"/>
            <a:ext cx="10178322" cy="6429374"/>
          </a:xfrm>
        </p:spPr>
        <p:txBody>
          <a:bodyPr/>
          <a:lstStyle/>
          <a:p>
            <a:pPr marL="0" indent="0">
              <a:buNone/>
            </a:pPr>
            <a:r>
              <a:rPr lang="es-CO" dirty="0">
                <a:solidFill>
                  <a:srgbClr val="FF0000"/>
                </a:solidFill>
              </a:rPr>
              <a:t>Paso 6</a:t>
            </a:r>
          </a:p>
          <a:p>
            <a:r>
              <a:rPr lang="es-CO" dirty="0">
                <a:solidFill>
                  <a:schemeClr val="tx1"/>
                </a:solidFill>
              </a:rPr>
              <a:t>Buscamos el archivo descomprimido y le damos open, lo cual veremos que ya tendrá un chulito de verificado de que ya tenemos el </a:t>
            </a:r>
            <a:r>
              <a:rPr lang="es-CO" dirty="0" err="1">
                <a:solidFill>
                  <a:schemeClr val="tx1"/>
                </a:solidFill>
              </a:rPr>
              <a:t>jar</a:t>
            </a:r>
            <a:r>
              <a:rPr lang="es-CO" dirty="0">
                <a:solidFill>
                  <a:schemeClr val="tx1"/>
                </a:solidFill>
              </a:rPr>
              <a:t> del calendar instalado.</a:t>
            </a:r>
          </a:p>
          <a:p>
            <a:pPr marL="0" indent="0">
              <a:buNone/>
            </a:pPr>
            <a:endParaRPr lang="es-CO" dirty="0"/>
          </a:p>
        </p:txBody>
      </p:sp>
      <p:pic>
        <p:nvPicPr>
          <p:cNvPr id="5" name="Imagen 4">
            <a:extLst>
              <a:ext uri="{FF2B5EF4-FFF2-40B4-BE49-F238E27FC236}">
                <a16:creationId xmlns:a16="http://schemas.microsoft.com/office/drawing/2014/main" id="{3DAA640D-77EC-4CBB-BCB3-109BF95B9AF2}"/>
              </a:ext>
            </a:extLst>
          </p:cNvPr>
          <p:cNvPicPr>
            <a:picLocks noChangeAspect="1"/>
          </p:cNvPicPr>
          <p:nvPr/>
        </p:nvPicPr>
        <p:blipFill>
          <a:blip r:embed="rId2"/>
          <a:stretch>
            <a:fillRect/>
          </a:stretch>
        </p:blipFill>
        <p:spPr>
          <a:xfrm>
            <a:off x="386495" y="1571625"/>
            <a:ext cx="6389809" cy="5143500"/>
          </a:xfrm>
          <a:prstGeom prst="rect">
            <a:avLst/>
          </a:prstGeom>
        </p:spPr>
      </p:pic>
      <p:pic>
        <p:nvPicPr>
          <p:cNvPr id="7" name="Imagen 6">
            <a:extLst>
              <a:ext uri="{FF2B5EF4-FFF2-40B4-BE49-F238E27FC236}">
                <a16:creationId xmlns:a16="http://schemas.microsoft.com/office/drawing/2014/main" id="{574E3E75-EAFB-43B2-9309-0B9A6DFAE6E1}"/>
              </a:ext>
            </a:extLst>
          </p:cNvPr>
          <p:cNvPicPr>
            <a:picLocks noChangeAspect="1"/>
          </p:cNvPicPr>
          <p:nvPr/>
        </p:nvPicPr>
        <p:blipFill rotWithShape="1">
          <a:blip r:embed="rId3"/>
          <a:srcRect l="28695" t="27531" r="28955" b="28554"/>
          <a:stretch/>
        </p:blipFill>
        <p:spPr>
          <a:xfrm>
            <a:off x="7365261" y="2347558"/>
            <a:ext cx="4302864" cy="3591633"/>
          </a:xfrm>
          <a:prstGeom prst="rect">
            <a:avLst/>
          </a:prstGeom>
        </p:spPr>
      </p:pic>
    </p:spTree>
    <p:extLst>
      <p:ext uri="{BB962C8B-B14F-4D97-AF65-F5344CB8AC3E}">
        <p14:creationId xmlns:p14="http://schemas.microsoft.com/office/powerpoint/2010/main" val="2905246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F78BAC2-0CEC-4EEC-9D0F-038735EA11CD}"/>
              </a:ext>
            </a:extLst>
          </p:cNvPr>
          <p:cNvSpPr>
            <a:spLocks noGrp="1"/>
          </p:cNvSpPr>
          <p:nvPr>
            <p:ph idx="1"/>
          </p:nvPr>
        </p:nvSpPr>
        <p:spPr>
          <a:xfrm>
            <a:off x="1251678" y="247650"/>
            <a:ext cx="10178322" cy="6438899"/>
          </a:xfrm>
        </p:spPr>
        <p:txBody>
          <a:bodyPr/>
          <a:lstStyle/>
          <a:p>
            <a:pPr marL="0" indent="0">
              <a:buNone/>
            </a:pPr>
            <a:r>
              <a:rPr lang="es-CO" dirty="0">
                <a:solidFill>
                  <a:srgbClr val="FF0000"/>
                </a:solidFill>
              </a:rPr>
              <a:t>Paso 7</a:t>
            </a:r>
          </a:p>
          <a:p>
            <a:r>
              <a:rPr lang="es-CO" dirty="0">
                <a:solidFill>
                  <a:schemeClr val="tx1"/>
                </a:solidFill>
              </a:rPr>
              <a:t>Por ultimo verificamos que estén las librerías JDBC, jcalendar y Absolute Layout.</a:t>
            </a:r>
          </a:p>
        </p:txBody>
      </p:sp>
      <p:pic>
        <p:nvPicPr>
          <p:cNvPr id="5" name="Imagen 4">
            <a:extLst>
              <a:ext uri="{FF2B5EF4-FFF2-40B4-BE49-F238E27FC236}">
                <a16:creationId xmlns:a16="http://schemas.microsoft.com/office/drawing/2014/main" id="{013979B6-C7E8-47F6-9559-54BC07BF51A3}"/>
              </a:ext>
            </a:extLst>
          </p:cNvPr>
          <p:cNvPicPr>
            <a:picLocks noChangeAspect="1"/>
          </p:cNvPicPr>
          <p:nvPr/>
        </p:nvPicPr>
        <p:blipFill>
          <a:blip r:embed="rId2"/>
          <a:stretch>
            <a:fillRect/>
          </a:stretch>
        </p:blipFill>
        <p:spPr>
          <a:xfrm>
            <a:off x="2896425" y="1296590"/>
            <a:ext cx="6790500" cy="5389959"/>
          </a:xfrm>
          <a:prstGeom prst="rect">
            <a:avLst/>
          </a:prstGeom>
        </p:spPr>
      </p:pic>
    </p:spTree>
    <p:extLst>
      <p:ext uri="{BB962C8B-B14F-4D97-AF65-F5344CB8AC3E}">
        <p14:creationId xmlns:p14="http://schemas.microsoft.com/office/powerpoint/2010/main" val="2427304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B1CA03A-D560-4034-9CE1-2778A85AA07F}"/>
              </a:ext>
            </a:extLst>
          </p:cNvPr>
          <p:cNvSpPr>
            <a:spLocks noGrp="1"/>
          </p:cNvSpPr>
          <p:nvPr>
            <p:ph idx="1"/>
          </p:nvPr>
        </p:nvSpPr>
        <p:spPr>
          <a:xfrm>
            <a:off x="1251678" y="171451"/>
            <a:ext cx="10178322" cy="6429374"/>
          </a:xfrm>
        </p:spPr>
        <p:txBody>
          <a:bodyPr/>
          <a:lstStyle/>
          <a:p>
            <a:pPr marL="0" indent="0">
              <a:buNone/>
            </a:pPr>
            <a:r>
              <a:rPr lang="es-CO" dirty="0">
                <a:solidFill>
                  <a:srgbClr val="FF0000"/>
                </a:solidFill>
              </a:rPr>
              <a:t>Paso 8</a:t>
            </a:r>
          </a:p>
          <a:p>
            <a:r>
              <a:rPr lang="es-CO" dirty="0">
                <a:solidFill>
                  <a:schemeClr val="tx1"/>
                </a:solidFill>
              </a:rPr>
              <a:t>Si en </a:t>
            </a:r>
            <a:r>
              <a:rPr lang="es-CO" dirty="0" err="1">
                <a:solidFill>
                  <a:schemeClr val="tx1"/>
                </a:solidFill>
              </a:rPr>
              <a:t>postgres</a:t>
            </a:r>
            <a:r>
              <a:rPr lang="es-CO" dirty="0">
                <a:solidFill>
                  <a:schemeClr val="tx1"/>
                </a:solidFill>
              </a:rPr>
              <a:t> tienen una contraseña diferente a la de </a:t>
            </a:r>
            <a:r>
              <a:rPr lang="es-CO" dirty="0" err="1">
                <a:solidFill>
                  <a:schemeClr val="tx1"/>
                </a:solidFill>
              </a:rPr>
              <a:t>root</a:t>
            </a:r>
            <a:r>
              <a:rPr lang="es-CO" dirty="0">
                <a:solidFill>
                  <a:schemeClr val="tx1"/>
                </a:solidFill>
              </a:rPr>
              <a:t>, tendrán que cambiarla. Para ello haremos lo siguiente:</a:t>
            </a:r>
          </a:p>
          <a:p>
            <a:r>
              <a:rPr lang="es-CO" dirty="0">
                <a:solidFill>
                  <a:schemeClr val="tx1"/>
                </a:solidFill>
              </a:rPr>
              <a:t>Nos dirigimos al proyecto, abrimos la carpeta </a:t>
            </a:r>
            <a:r>
              <a:rPr lang="es-CO" dirty="0" err="1">
                <a:solidFill>
                  <a:schemeClr val="tx1"/>
                </a:solidFill>
              </a:rPr>
              <a:t>Source</a:t>
            </a:r>
            <a:r>
              <a:rPr lang="es-CO" dirty="0">
                <a:solidFill>
                  <a:schemeClr val="tx1"/>
                </a:solidFill>
              </a:rPr>
              <a:t> </a:t>
            </a:r>
            <a:r>
              <a:rPr lang="es-CO" dirty="0" err="1">
                <a:solidFill>
                  <a:schemeClr val="tx1"/>
                </a:solidFill>
              </a:rPr>
              <a:t>Package</a:t>
            </a:r>
            <a:r>
              <a:rPr lang="es-CO" dirty="0">
                <a:solidFill>
                  <a:schemeClr val="tx1"/>
                </a:solidFill>
              </a:rPr>
              <a:t>, y daremos doble clic a la clase </a:t>
            </a:r>
            <a:r>
              <a:rPr lang="es-CO" dirty="0" err="1">
                <a:solidFill>
                  <a:schemeClr val="tx1"/>
                </a:solidFill>
              </a:rPr>
              <a:t>conexiónBD</a:t>
            </a:r>
            <a:endParaRPr lang="es-CO" dirty="0">
              <a:solidFill>
                <a:schemeClr val="tx1"/>
              </a:solidFill>
            </a:endParaRPr>
          </a:p>
        </p:txBody>
      </p:sp>
      <p:pic>
        <p:nvPicPr>
          <p:cNvPr id="7" name="Imagen 6">
            <a:extLst>
              <a:ext uri="{FF2B5EF4-FFF2-40B4-BE49-F238E27FC236}">
                <a16:creationId xmlns:a16="http://schemas.microsoft.com/office/drawing/2014/main" id="{1D9560B3-D2B9-4C8D-A97F-DCC79952E24F}"/>
              </a:ext>
            </a:extLst>
          </p:cNvPr>
          <p:cNvPicPr>
            <a:picLocks noChangeAspect="1"/>
          </p:cNvPicPr>
          <p:nvPr/>
        </p:nvPicPr>
        <p:blipFill>
          <a:blip r:embed="rId2"/>
          <a:stretch>
            <a:fillRect/>
          </a:stretch>
        </p:blipFill>
        <p:spPr>
          <a:xfrm>
            <a:off x="3602027" y="2124075"/>
            <a:ext cx="5667996" cy="4562474"/>
          </a:xfrm>
          <a:prstGeom prst="rect">
            <a:avLst/>
          </a:prstGeom>
        </p:spPr>
      </p:pic>
    </p:spTree>
    <p:extLst>
      <p:ext uri="{BB962C8B-B14F-4D97-AF65-F5344CB8AC3E}">
        <p14:creationId xmlns:p14="http://schemas.microsoft.com/office/powerpoint/2010/main" val="2600715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C07F380-D0ED-47E6-B117-DE21C67A6933}"/>
              </a:ext>
            </a:extLst>
          </p:cNvPr>
          <p:cNvSpPr>
            <a:spLocks noGrp="1"/>
          </p:cNvSpPr>
          <p:nvPr>
            <p:ph idx="1"/>
          </p:nvPr>
        </p:nvSpPr>
        <p:spPr>
          <a:xfrm>
            <a:off x="1251678" y="371475"/>
            <a:ext cx="10178322" cy="6191250"/>
          </a:xfrm>
        </p:spPr>
        <p:txBody>
          <a:bodyPr/>
          <a:lstStyle/>
          <a:p>
            <a:pPr marL="0" indent="0">
              <a:buNone/>
            </a:pPr>
            <a:r>
              <a:rPr lang="es-CO" dirty="0">
                <a:solidFill>
                  <a:srgbClr val="FF0000"/>
                </a:solidFill>
              </a:rPr>
              <a:t>Paso 9</a:t>
            </a:r>
          </a:p>
          <a:p>
            <a:r>
              <a:rPr lang="es-CO" dirty="0">
                <a:solidFill>
                  <a:schemeClr val="tx1"/>
                </a:solidFill>
              </a:rPr>
              <a:t>Se nos abrirá una ventana de diseño con la configuración de la clase. Buscamos la línea 28 la cual dice “</a:t>
            </a:r>
            <a:r>
              <a:rPr lang="es-CO" dirty="0" err="1">
                <a:solidFill>
                  <a:schemeClr val="tx1"/>
                </a:solidFill>
              </a:rPr>
              <a:t>String</a:t>
            </a:r>
            <a:r>
              <a:rPr lang="es-CO" dirty="0">
                <a:solidFill>
                  <a:schemeClr val="tx1"/>
                </a:solidFill>
              </a:rPr>
              <a:t> </a:t>
            </a:r>
            <a:r>
              <a:rPr lang="es-CO" dirty="0" err="1">
                <a:solidFill>
                  <a:schemeClr val="tx1"/>
                </a:solidFill>
              </a:rPr>
              <a:t>password</a:t>
            </a:r>
            <a:r>
              <a:rPr lang="es-CO" dirty="0">
                <a:solidFill>
                  <a:schemeClr val="tx1"/>
                </a:solidFill>
              </a:rPr>
              <a:t> = “</a:t>
            </a:r>
            <a:r>
              <a:rPr lang="es-CO" dirty="0" err="1">
                <a:solidFill>
                  <a:schemeClr val="tx1"/>
                </a:solidFill>
              </a:rPr>
              <a:t>root</a:t>
            </a:r>
            <a:r>
              <a:rPr lang="es-CO" dirty="0">
                <a:solidFill>
                  <a:schemeClr val="tx1"/>
                </a:solidFill>
              </a:rPr>
              <a:t>”; la palabra </a:t>
            </a:r>
            <a:r>
              <a:rPr lang="es-CO" dirty="0" err="1">
                <a:solidFill>
                  <a:schemeClr val="tx1"/>
                </a:solidFill>
              </a:rPr>
              <a:t>root</a:t>
            </a:r>
            <a:r>
              <a:rPr lang="es-CO" dirty="0">
                <a:solidFill>
                  <a:schemeClr val="tx1"/>
                </a:solidFill>
              </a:rPr>
              <a:t> la cambiaremos por la contraseña que se tiene en </a:t>
            </a:r>
            <a:r>
              <a:rPr lang="es-CO" dirty="0" err="1">
                <a:solidFill>
                  <a:schemeClr val="tx1"/>
                </a:solidFill>
              </a:rPr>
              <a:t>postgres</a:t>
            </a:r>
            <a:r>
              <a:rPr lang="es-CO" dirty="0">
                <a:solidFill>
                  <a:schemeClr val="tx1"/>
                </a:solidFill>
              </a:rPr>
              <a:t> </a:t>
            </a:r>
          </a:p>
          <a:p>
            <a:endParaRPr lang="es-CO" dirty="0"/>
          </a:p>
        </p:txBody>
      </p:sp>
      <p:pic>
        <p:nvPicPr>
          <p:cNvPr id="7" name="Imagen 6">
            <a:extLst>
              <a:ext uri="{FF2B5EF4-FFF2-40B4-BE49-F238E27FC236}">
                <a16:creationId xmlns:a16="http://schemas.microsoft.com/office/drawing/2014/main" id="{174F1A74-2A9C-4F4F-B41E-AB2B56F0A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650" y="1957866"/>
            <a:ext cx="5729508" cy="4604860"/>
          </a:xfrm>
          <a:prstGeom prst="rect">
            <a:avLst/>
          </a:prstGeom>
        </p:spPr>
      </p:pic>
    </p:spTree>
    <p:extLst>
      <p:ext uri="{BB962C8B-B14F-4D97-AF65-F5344CB8AC3E}">
        <p14:creationId xmlns:p14="http://schemas.microsoft.com/office/powerpoint/2010/main" val="1639074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F40778-1D40-4CA3-A219-A887C5650F66}"/>
              </a:ext>
            </a:extLst>
          </p:cNvPr>
          <p:cNvSpPr>
            <a:spLocks noGrp="1"/>
          </p:cNvSpPr>
          <p:nvPr>
            <p:ph type="ctrTitle"/>
          </p:nvPr>
        </p:nvSpPr>
        <p:spPr>
          <a:xfrm>
            <a:off x="1078523" y="647701"/>
            <a:ext cx="10318418" cy="5572124"/>
          </a:xfrm>
        </p:spPr>
        <p:txBody>
          <a:bodyPr/>
          <a:lstStyle/>
          <a:p>
            <a:r>
              <a:rPr lang="es-CO" dirty="0"/>
              <a:t>Ingreso y Uso del sistema</a:t>
            </a:r>
          </a:p>
        </p:txBody>
      </p:sp>
    </p:spTree>
    <p:extLst>
      <p:ext uri="{BB962C8B-B14F-4D97-AF65-F5344CB8AC3E}">
        <p14:creationId xmlns:p14="http://schemas.microsoft.com/office/powerpoint/2010/main" val="3837121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2ED3989-E338-43AC-BD0B-F9F4F358B4C1}"/>
              </a:ext>
            </a:extLst>
          </p:cNvPr>
          <p:cNvSpPr>
            <a:spLocks noGrp="1"/>
          </p:cNvSpPr>
          <p:nvPr>
            <p:ph idx="1"/>
          </p:nvPr>
        </p:nvSpPr>
        <p:spPr>
          <a:xfrm>
            <a:off x="1140792" y="123826"/>
            <a:ext cx="10178322" cy="6238874"/>
          </a:xfrm>
        </p:spPr>
        <p:txBody>
          <a:bodyPr/>
          <a:lstStyle/>
          <a:p>
            <a:pPr marL="0" indent="0">
              <a:buNone/>
            </a:pPr>
            <a:r>
              <a:rPr lang="es-CO" dirty="0">
                <a:solidFill>
                  <a:srgbClr val="FF0000"/>
                </a:solidFill>
              </a:rPr>
              <a:t>Paso 1</a:t>
            </a:r>
          </a:p>
          <a:p>
            <a:r>
              <a:rPr lang="es-CO" dirty="0">
                <a:solidFill>
                  <a:schemeClr val="tx1"/>
                </a:solidFill>
              </a:rPr>
              <a:t>Por ultimo veremos el ingreso y el uso del Sistema.</a:t>
            </a:r>
          </a:p>
          <a:p>
            <a:r>
              <a:rPr lang="es-CO" dirty="0">
                <a:solidFill>
                  <a:schemeClr val="tx1"/>
                </a:solidFill>
              </a:rPr>
              <a:t>Para ello abrimos la pestaña del proyecto, abrimos la carpeta llamada </a:t>
            </a:r>
            <a:r>
              <a:rPr lang="es-CO" dirty="0" err="1">
                <a:solidFill>
                  <a:schemeClr val="tx1"/>
                </a:solidFill>
              </a:rPr>
              <a:t>Source</a:t>
            </a:r>
            <a:r>
              <a:rPr lang="es-CO" dirty="0">
                <a:solidFill>
                  <a:schemeClr val="tx1"/>
                </a:solidFill>
              </a:rPr>
              <a:t> </a:t>
            </a:r>
            <a:r>
              <a:rPr lang="es-CO" dirty="0" err="1">
                <a:solidFill>
                  <a:schemeClr val="tx1"/>
                </a:solidFill>
              </a:rPr>
              <a:t>Package</a:t>
            </a:r>
            <a:r>
              <a:rPr lang="es-CO" dirty="0">
                <a:solidFill>
                  <a:schemeClr val="tx1"/>
                </a:solidFill>
              </a:rPr>
              <a:t> y luego la carpeta llamada Vistas. Por ultimo daremos clic derecho a la clase llamada </a:t>
            </a:r>
            <a:r>
              <a:rPr lang="es-CO" dirty="0" err="1">
                <a:solidFill>
                  <a:schemeClr val="tx1"/>
                </a:solidFill>
              </a:rPr>
              <a:t>login</a:t>
            </a:r>
            <a:r>
              <a:rPr lang="es-CO" dirty="0">
                <a:solidFill>
                  <a:schemeClr val="tx1"/>
                </a:solidFill>
              </a:rPr>
              <a:t> y le damos en la opción run file.</a:t>
            </a:r>
          </a:p>
        </p:txBody>
      </p:sp>
      <p:pic>
        <p:nvPicPr>
          <p:cNvPr id="9" name="Imagen 8">
            <a:extLst>
              <a:ext uri="{FF2B5EF4-FFF2-40B4-BE49-F238E27FC236}">
                <a16:creationId xmlns:a16="http://schemas.microsoft.com/office/drawing/2014/main" id="{790A9E60-DF84-4019-A2C4-13D7056CFAA2}"/>
              </a:ext>
            </a:extLst>
          </p:cNvPr>
          <p:cNvPicPr>
            <a:picLocks noChangeAspect="1"/>
          </p:cNvPicPr>
          <p:nvPr/>
        </p:nvPicPr>
        <p:blipFill rotWithShape="1">
          <a:blip r:embed="rId2"/>
          <a:srcRect l="4803" r="28047" b="3889"/>
          <a:stretch/>
        </p:blipFill>
        <p:spPr>
          <a:xfrm>
            <a:off x="3161647" y="1990725"/>
            <a:ext cx="5891865" cy="4743449"/>
          </a:xfrm>
          <a:prstGeom prst="rect">
            <a:avLst/>
          </a:prstGeom>
        </p:spPr>
      </p:pic>
    </p:spTree>
    <p:extLst>
      <p:ext uri="{BB962C8B-B14F-4D97-AF65-F5344CB8AC3E}">
        <p14:creationId xmlns:p14="http://schemas.microsoft.com/office/powerpoint/2010/main" val="99670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558F9CB-0090-4A3D-AF03-6C474FCA7A93}"/>
              </a:ext>
            </a:extLst>
          </p:cNvPr>
          <p:cNvSpPr>
            <a:spLocks noGrp="1"/>
          </p:cNvSpPr>
          <p:nvPr>
            <p:ph idx="1"/>
          </p:nvPr>
        </p:nvSpPr>
        <p:spPr>
          <a:xfrm>
            <a:off x="1251678" y="228601"/>
            <a:ext cx="10178322" cy="6467474"/>
          </a:xfrm>
        </p:spPr>
        <p:txBody>
          <a:bodyPr/>
          <a:lstStyle/>
          <a:p>
            <a:pPr marL="0" indent="0">
              <a:buNone/>
            </a:pPr>
            <a:r>
              <a:rPr lang="es-CO" dirty="0">
                <a:solidFill>
                  <a:srgbClr val="FF0000"/>
                </a:solidFill>
              </a:rPr>
              <a:t>Paso 2</a:t>
            </a:r>
          </a:p>
          <a:p>
            <a:r>
              <a:rPr lang="es-CO" dirty="0">
                <a:solidFill>
                  <a:schemeClr val="tx1"/>
                </a:solidFill>
              </a:rPr>
              <a:t>Se abrirá el cuadro de inicio de sesión, en el cual se digitara el usuario y contraseña para poder ingresar.</a:t>
            </a:r>
          </a:p>
        </p:txBody>
      </p:sp>
      <p:pic>
        <p:nvPicPr>
          <p:cNvPr id="7" name="Imagen 6">
            <a:extLst>
              <a:ext uri="{FF2B5EF4-FFF2-40B4-BE49-F238E27FC236}">
                <a16:creationId xmlns:a16="http://schemas.microsoft.com/office/drawing/2014/main" id="{EB34517A-CAF7-4B0B-BDD0-701CF888248C}"/>
              </a:ext>
            </a:extLst>
          </p:cNvPr>
          <p:cNvPicPr>
            <a:picLocks noChangeAspect="1"/>
          </p:cNvPicPr>
          <p:nvPr/>
        </p:nvPicPr>
        <p:blipFill>
          <a:blip r:embed="rId2"/>
          <a:stretch>
            <a:fillRect/>
          </a:stretch>
        </p:blipFill>
        <p:spPr>
          <a:xfrm>
            <a:off x="3137388" y="2018710"/>
            <a:ext cx="5917223" cy="4763090"/>
          </a:xfrm>
          <a:prstGeom prst="rect">
            <a:avLst/>
          </a:prstGeom>
        </p:spPr>
      </p:pic>
    </p:spTree>
    <p:extLst>
      <p:ext uri="{BB962C8B-B14F-4D97-AF65-F5344CB8AC3E}">
        <p14:creationId xmlns:p14="http://schemas.microsoft.com/office/powerpoint/2010/main" val="109528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6569D47-51AE-4BE8-87C6-D1C0A2529EF9}"/>
              </a:ext>
            </a:extLst>
          </p:cNvPr>
          <p:cNvSpPr>
            <a:spLocks noGrp="1"/>
          </p:cNvSpPr>
          <p:nvPr>
            <p:ph idx="1"/>
          </p:nvPr>
        </p:nvSpPr>
        <p:spPr>
          <a:xfrm>
            <a:off x="1251678" y="276225"/>
            <a:ext cx="10178322" cy="6391275"/>
          </a:xfrm>
        </p:spPr>
        <p:txBody>
          <a:bodyPr/>
          <a:lstStyle/>
          <a:p>
            <a:r>
              <a:rPr lang="es-CO" dirty="0">
                <a:solidFill>
                  <a:schemeClr val="tx1"/>
                </a:solidFill>
              </a:rPr>
              <a:t>Una vez ingresado las credenciales, ya estaremos dentro del sistema.</a:t>
            </a:r>
          </a:p>
          <a:p>
            <a:r>
              <a:rPr lang="es-CO" dirty="0">
                <a:solidFill>
                  <a:schemeClr val="tx1"/>
                </a:solidFill>
              </a:rPr>
              <a:t>En la esquina superior izquierda aparecerán 3 pestañas las cuales nos permitirá registrar a las personas al sistema además de poder salir del sistema.</a:t>
            </a:r>
          </a:p>
          <a:p>
            <a:endParaRPr lang="es-CO" dirty="0"/>
          </a:p>
          <a:p>
            <a:endParaRPr lang="es-CO" dirty="0"/>
          </a:p>
        </p:txBody>
      </p:sp>
      <p:pic>
        <p:nvPicPr>
          <p:cNvPr id="5" name="Imagen 4">
            <a:extLst>
              <a:ext uri="{FF2B5EF4-FFF2-40B4-BE49-F238E27FC236}">
                <a16:creationId xmlns:a16="http://schemas.microsoft.com/office/drawing/2014/main" id="{D3EAC4BB-F659-4ED0-ADD5-9D9027B4B7CF}"/>
              </a:ext>
            </a:extLst>
          </p:cNvPr>
          <p:cNvPicPr>
            <a:picLocks noChangeAspect="1"/>
          </p:cNvPicPr>
          <p:nvPr/>
        </p:nvPicPr>
        <p:blipFill>
          <a:blip r:embed="rId2"/>
          <a:stretch>
            <a:fillRect/>
          </a:stretch>
        </p:blipFill>
        <p:spPr>
          <a:xfrm>
            <a:off x="1581150" y="1529655"/>
            <a:ext cx="8820150" cy="4823520"/>
          </a:xfrm>
          <a:prstGeom prst="rect">
            <a:avLst/>
          </a:prstGeom>
        </p:spPr>
      </p:pic>
    </p:spTree>
    <p:extLst>
      <p:ext uri="{BB962C8B-B14F-4D97-AF65-F5344CB8AC3E}">
        <p14:creationId xmlns:p14="http://schemas.microsoft.com/office/powerpoint/2010/main" val="2507949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7CDCA8-34CF-4824-91AD-5F944FE4688E}"/>
              </a:ext>
            </a:extLst>
          </p:cNvPr>
          <p:cNvSpPr>
            <a:spLocks noGrp="1"/>
          </p:cNvSpPr>
          <p:nvPr>
            <p:ph type="ctrTitle"/>
          </p:nvPr>
        </p:nvSpPr>
        <p:spPr>
          <a:xfrm>
            <a:off x="1078523" y="704850"/>
            <a:ext cx="10318418" cy="5543550"/>
          </a:xfrm>
        </p:spPr>
        <p:txBody>
          <a:bodyPr/>
          <a:lstStyle/>
          <a:p>
            <a:r>
              <a:rPr lang="es-CO" dirty="0"/>
              <a:t>Ingreso de</a:t>
            </a:r>
            <a:br>
              <a:rPr lang="es-CO" dirty="0"/>
            </a:br>
            <a:r>
              <a:rPr lang="es-CO" dirty="0"/>
              <a:t>Visitantes</a:t>
            </a:r>
          </a:p>
        </p:txBody>
      </p:sp>
    </p:spTree>
    <p:extLst>
      <p:ext uri="{BB962C8B-B14F-4D97-AF65-F5344CB8AC3E}">
        <p14:creationId xmlns:p14="http://schemas.microsoft.com/office/powerpoint/2010/main" val="3603818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9D54112-D3D1-49C6-93AB-CD1A56E667DF}"/>
              </a:ext>
            </a:extLst>
          </p:cNvPr>
          <p:cNvSpPr>
            <a:spLocks noGrp="1"/>
          </p:cNvSpPr>
          <p:nvPr>
            <p:ph idx="1"/>
          </p:nvPr>
        </p:nvSpPr>
        <p:spPr>
          <a:xfrm>
            <a:off x="1251678" y="257175"/>
            <a:ext cx="10178322" cy="6362700"/>
          </a:xfrm>
        </p:spPr>
        <p:txBody>
          <a:bodyPr/>
          <a:lstStyle/>
          <a:p>
            <a:pPr marL="0" indent="0">
              <a:buNone/>
            </a:pPr>
            <a:r>
              <a:rPr lang="es-CO" dirty="0">
                <a:solidFill>
                  <a:srgbClr val="FF0000"/>
                </a:solidFill>
              </a:rPr>
              <a:t>Paso 1</a:t>
            </a:r>
          </a:p>
          <a:p>
            <a:r>
              <a:rPr lang="es-CO" dirty="0">
                <a:solidFill>
                  <a:schemeClr val="tx1"/>
                </a:solidFill>
              </a:rPr>
              <a:t>Vamos a la pestaña de visitantes,  lo cual al seleccionarla nos desplegara otra llamada “Registrar Visitantes”.  Al darle clic nos llevara al formulario para registrar a los visitantes.</a:t>
            </a:r>
          </a:p>
        </p:txBody>
      </p:sp>
      <p:pic>
        <p:nvPicPr>
          <p:cNvPr id="7" name="Imagen 6">
            <a:extLst>
              <a:ext uri="{FF2B5EF4-FFF2-40B4-BE49-F238E27FC236}">
                <a16:creationId xmlns:a16="http://schemas.microsoft.com/office/drawing/2014/main" id="{139931C0-3450-4899-87ED-1C3A49CC746E}"/>
              </a:ext>
            </a:extLst>
          </p:cNvPr>
          <p:cNvPicPr>
            <a:picLocks noChangeAspect="1"/>
          </p:cNvPicPr>
          <p:nvPr/>
        </p:nvPicPr>
        <p:blipFill rotWithShape="1">
          <a:blip r:embed="rId2"/>
          <a:srcRect l="4569" t="6805" r="22501" b="22361"/>
          <a:stretch/>
        </p:blipFill>
        <p:spPr>
          <a:xfrm>
            <a:off x="1571625" y="1581151"/>
            <a:ext cx="8891587" cy="4857750"/>
          </a:xfrm>
          <a:prstGeom prst="rect">
            <a:avLst/>
          </a:prstGeom>
        </p:spPr>
      </p:pic>
    </p:spTree>
    <p:extLst>
      <p:ext uri="{BB962C8B-B14F-4D97-AF65-F5344CB8AC3E}">
        <p14:creationId xmlns:p14="http://schemas.microsoft.com/office/powerpoint/2010/main" val="2838299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5982DF9-60B8-4183-8A22-9BABE0D6AE15}"/>
              </a:ext>
            </a:extLst>
          </p:cNvPr>
          <p:cNvSpPr>
            <a:spLocks noGrp="1"/>
          </p:cNvSpPr>
          <p:nvPr>
            <p:ph idx="1"/>
          </p:nvPr>
        </p:nvSpPr>
        <p:spPr>
          <a:xfrm>
            <a:off x="1251678" y="333375"/>
            <a:ext cx="10178322" cy="6219825"/>
          </a:xfrm>
        </p:spPr>
        <p:txBody>
          <a:bodyPr/>
          <a:lstStyle/>
          <a:p>
            <a:pPr marL="0" indent="0">
              <a:buNone/>
            </a:pPr>
            <a:r>
              <a:rPr lang="es-CO" dirty="0">
                <a:solidFill>
                  <a:srgbClr val="FF0000"/>
                </a:solidFill>
              </a:rPr>
              <a:t>Paso 2</a:t>
            </a:r>
          </a:p>
          <a:p>
            <a:r>
              <a:rPr lang="es-CO" dirty="0">
                <a:solidFill>
                  <a:schemeClr val="tx1"/>
                </a:solidFill>
              </a:rPr>
              <a:t>Se nos abrirá el formulario para el registro de los visitantes.  Allí se diligenciara información básica para el ingreso, como el documento de identidad, Nombre completo, teléfono, correo electrónico, motivo de visita, área a la que se dirige, temperatura, fecha de ingreso y salida y por  ultimo el usuario que esta realizando el registro.</a:t>
            </a:r>
            <a:endParaRPr lang="es-CO" dirty="0"/>
          </a:p>
        </p:txBody>
      </p:sp>
      <p:pic>
        <p:nvPicPr>
          <p:cNvPr id="5" name="Imagen 4">
            <a:extLst>
              <a:ext uri="{FF2B5EF4-FFF2-40B4-BE49-F238E27FC236}">
                <a16:creationId xmlns:a16="http://schemas.microsoft.com/office/drawing/2014/main" id="{28A063F6-D740-4FE5-9BFF-1A8E3D8A1A13}"/>
              </a:ext>
            </a:extLst>
          </p:cNvPr>
          <p:cNvPicPr>
            <a:picLocks noChangeAspect="1"/>
          </p:cNvPicPr>
          <p:nvPr/>
        </p:nvPicPr>
        <p:blipFill>
          <a:blip r:embed="rId2"/>
          <a:stretch>
            <a:fillRect/>
          </a:stretch>
        </p:blipFill>
        <p:spPr>
          <a:xfrm>
            <a:off x="2491650" y="2343150"/>
            <a:ext cx="7698377" cy="4210050"/>
          </a:xfrm>
          <a:prstGeom prst="rect">
            <a:avLst/>
          </a:prstGeom>
        </p:spPr>
      </p:pic>
    </p:spTree>
    <p:extLst>
      <p:ext uri="{BB962C8B-B14F-4D97-AF65-F5344CB8AC3E}">
        <p14:creationId xmlns:p14="http://schemas.microsoft.com/office/powerpoint/2010/main" val="1426489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2A8DEB1-A2A7-49AC-B199-8E0535337EC2}"/>
              </a:ext>
            </a:extLst>
          </p:cNvPr>
          <p:cNvSpPr>
            <a:spLocks noGrp="1"/>
          </p:cNvSpPr>
          <p:nvPr>
            <p:ph idx="1"/>
          </p:nvPr>
        </p:nvSpPr>
        <p:spPr>
          <a:xfrm>
            <a:off x="1251678" y="200025"/>
            <a:ext cx="10178322" cy="6419850"/>
          </a:xfrm>
        </p:spPr>
        <p:txBody>
          <a:bodyPr/>
          <a:lstStyle/>
          <a:p>
            <a:pPr marL="0" indent="0">
              <a:buNone/>
            </a:pPr>
            <a:r>
              <a:rPr lang="es-CO" dirty="0">
                <a:solidFill>
                  <a:schemeClr val="tx1"/>
                </a:solidFill>
              </a:rPr>
              <a:t>El formulario también cuenta con unos botones al lado izquierdo que están realizan las siguientes acciones.</a:t>
            </a:r>
          </a:p>
          <a:p>
            <a:r>
              <a:rPr lang="es-CO" dirty="0">
                <a:solidFill>
                  <a:schemeClr val="tx1"/>
                </a:solidFill>
              </a:rPr>
              <a:t>Registrar: Permite registrar la información ingresada al formulario</a:t>
            </a:r>
          </a:p>
          <a:p>
            <a:r>
              <a:rPr lang="es-CO" dirty="0">
                <a:solidFill>
                  <a:schemeClr val="tx1"/>
                </a:solidFill>
              </a:rPr>
              <a:t>Actualizar: Permite actualizar registros ingresados.</a:t>
            </a:r>
          </a:p>
          <a:p>
            <a:r>
              <a:rPr lang="es-CO" dirty="0">
                <a:solidFill>
                  <a:schemeClr val="tx1"/>
                </a:solidFill>
              </a:rPr>
              <a:t>Eliminar: Permite eliminar registros ingresados.</a:t>
            </a:r>
          </a:p>
          <a:p>
            <a:r>
              <a:rPr lang="es-CO" dirty="0">
                <a:solidFill>
                  <a:schemeClr val="tx1"/>
                </a:solidFill>
              </a:rPr>
              <a:t>Mostrar: Muestra el registro seleccionado.</a:t>
            </a:r>
          </a:p>
          <a:p>
            <a:r>
              <a:rPr lang="es-CO" dirty="0">
                <a:solidFill>
                  <a:schemeClr val="tx1"/>
                </a:solidFill>
              </a:rPr>
              <a:t>Limpia:  Deja en blanco todos los campos del formulario.</a:t>
            </a:r>
          </a:p>
        </p:txBody>
      </p:sp>
      <p:pic>
        <p:nvPicPr>
          <p:cNvPr id="2" name="Imagen 1"/>
          <p:cNvPicPr>
            <a:picLocks noChangeAspect="1"/>
          </p:cNvPicPr>
          <p:nvPr/>
        </p:nvPicPr>
        <p:blipFill>
          <a:blip r:embed="rId2"/>
          <a:stretch>
            <a:fillRect/>
          </a:stretch>
        </p:blipFill>
        <p:spPr>
          <a:xfrm>
            <a:off x="8857383" y="817419"/>
            <a:ext cx="2164172" cy="5913725"/>
          </a:xfrm>
          <a:prstGeom prst="rect">
            <a:avLst/>
          </a:prstGeom>
        </p:spPr>
      </p:pic>
    </p:spTree>
    <p:extLst>
      <p:ext uri="{BB962C8B-B14F-4D97-AF65-F5344CB8AC3E}">
        <p14:creationId xmlns:p14="http://schemas.microsoft.com/office/powerpoint/2010/main" val="4264106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4801B-EE55-4910-9718-F45A58066645}"/>
              </a:ext>
            </a:extLst>
          </p:cNvPr>
          <p:cNvSpPr>
            <a:spLocks noGrp="1"/>
          </p:cNvSpPr>
          <p:nvPr>
            <p:ph type="ctrTitle"/>
          </p:nvPr>
        </p:nvSpPr>
        <p:spPr>
          <a:xfrm>
            <a:off x="1078523" y="695325"/>
            <a:ext cx="10318418" cy="5676899"/>
          </a:xfrm>
        </p:spPr>
        <p:txBody>
          <a:bodyPr/>
          <a:lstStyle/>
          <a:p>
            <a:r>
              <a:rPr lang="es-CO" dirty="0"/>
              <a:t>INGRESO DE EMPLEADOS</a:t>
            </a:r>
          </a:p>
        </p:txBody>
      </p:sp>
    </p:spTree>
    <p:extLst>
      <p:ext uri="{BB962C8B-B14F-4D97-AF65-F5344CB8AC3E}">
        <p14:creationId xmlns:p14="http://schemas.microsoft.com/office/powerpoint/2010/main" val="2049012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9D54112-D3D1-49C6-93AB-CD1A56E667DF}"/>
              </a:ext>
            </a:extLst>
          </p:cNvPr>
          <p:cNvSpPr>
            <a:spLocks noGrp="1"/>
          </p:cNvSpPr>
          <p:nvPr>
            <p:ph idx="1"/>
          </p:nvPr>
        </p:nvSpPr>
        <p:spPr>
          <a:xfrm>
            <a:off x="1251678" y="257175"/>
            <a:ext cx="10178322" cy="6362700"/>
          </a:xfrm>
        </p:spPr>
        <p:txBody>
          <a:bodyPr/>
          <a:lstStyle/>
          <a:p>
            <a:pPr marL="0" indent="0">
              <a:buNone/>
            </a:pPr>
            <a:r>
              <a:rPr lang="es-CO" dirty="0">
                <a:solidFill>
                  <a:srgbClr val="FF0000"/>
                </a:solidFill>
              </a:rPr>
              <a:t>Paso 1</a:t>
            </a:r>
          </a:p>
          <a:p>
            <a:r>
              <a:rPr lang="es-CO" dirty="0">
                <a:solidFill>
                  <a:schemeClr val="tx1"/>
                </a:solidFill>
              </a:rPr>
              <a:t>Vamos a la pestaña de empleados,  lo cual al seleccionarla nos desplegara otra llamada “Registrar Empleados”.  Al darle clic nos llevara al formulario para registrar a los empleados.</a:t>
            </a:r>
          </a:p>
        </p:txBody>
      </p:sp>
      <p:pic>
        <p:nvPicPr>
          <p:cNvPr id="4" name="Imagen 3">
            <a:extLst>
              <a:ext uri="{FF2B5EF4-FFF2-40B4-BE49-F238E27FC236}">
                <a16:creationId xmlns:a16="http://schemas.microsoft.com/office/drawing/2014/main" id="{1A218EE5-EE26-4F71-A352-47DB60FB5867}"/>
              </a:ext>
            </a:extLst>
          </p:cNvPr>
          <p:cNvPicPr>
            <a:picLocks noChangeAspect="1"/>
          </p:cNvPicPr>
          <p:nvPr/>
        </p:nvPicPr>
        <p:blipFill rotWithShape="1">
          <a:blip r:embed="rId2"/>
          <a:srcRect l="15313" t="7639" r="12110" b="21389"/>
          <a:stretch/>
        </p:blipFill>
        <p:spPr>
          <a:xfrm>
            <a:off x="1916476" y="1543050"/>
            <a:ext cx="8848725" cy="4867276"/>
          </a:xfrm>
          <a:prstGeom prst="rect">
            <a:avLst/>
          </a:prstGeom>
        </p:spPr>
      </p:pic>
    </p:spTree>
    <p:extLst>
      <p:ext uri="{BB962C8B-B14F-4D97-AF65-F5344CB8AC3E}">
        <p14:creationId xmlns:p14="http://schemas.microsoft.com/office/powerpoint/2010/main" val="157116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5982DF9-60B8-4183-8A22-9BABE0D6AE15}"/>
              </a:ext>
            </a:extLst>
          </p:cNvPr>
          <p:cNvSpPr>
            <a:spLocks noGrp="1"/>
          </p:cNvSpPr>
          <p:nvPr>
            <p:ph idx="1"/>
          </p:nvPr>
        </p:nvSpPr>
        <p:spPr>
          <a:xfrm>
            <a:off x="1251678" y="333375"/>
            <a:ext cx="10178322" cy="6219825"/>
          </a:xfrm>
        </p:spPr>
        <p:txBody>
          <a:bodyPr/>
          <a:lstStyle/>
          <a:p>
            <a:pPr marL="0" indent="0">
              <a:buNone/>
            </a:pPr>
            <a:r>
              <a:rPr lang="es-CO" dirty="0">
                <a:solidFill>
                  <a:srgbClr val="FF0000"/>
                </a:solidFill>
              </a:rPr>
              <a:t>Paso 2</a:t>
            </a:r>
          </a:p>
          <a:p>
            <a:r>
              <a:rPr lang="es-CO" dirty="0">
                <a:solidFill>
                  <a:schemeClr val="tx1"/>
                </a:solidFill>
              </a:rPr>
              <a:t>Se nos abrirá el formulario para el registro de los empleados.  Allí se diligenciara información básica para el ingreso, como el documento de identidad, Nombre completo, teléfono, correo electrónico, área de trabajo, temperatura, fecha de ingreso y salida y por  ultimo el usuario que esta realizando el registro.</a:t>
            </a:r>
            <a:endParaRPr lang="es-CO" dirty="0"/>
          </a:p>
        </p:txBody>
      </p:sp>
      <p:pic>
        <p:nvPicPr>
          <p:cNvPr id="7" name="Imagen 6">
            <a:extLst>
              <a:ext uri="{FF2B5EF4-FFF2-40B4-BE49-F238E27FC236}">
                <a16:creationId xmlns:a16="http://schemas.microsoft.com/office/drawing/2014/main" id="{EA779F5C-9BA9-4228-9FAE-25FF5E31BF95}"/>
              </a:ext>
            </a:extLst>
          </p:cNvPr>
          <p:cNvPicPr>
            <a:picLocks noChangeAspect="1"/>
          </p:cNvPicPr>
          <p:nvPr/>
        </p:nvPicPr>
        <p:blipFill>
          <a:blip r:embed="rId2"/>
          <a:stretch>
            <a:fillRect/>
          </a:stretch>
        </p:blipFill>
        <p:spPr>
          <a:xfrm>
            <a:off x="2735490" y="2476500"/>
            <a:ext cx="7210697" cy="3943350"/>
          </a:xfrm>
          <a:prstGeom prst="rect">
            <a:avLst/>
          </a:prstGeom>
        </p:spPr>
      </p:pic>
    </p:spTree>
    <p:extLst>
      <p:ext uri="{BB962C8B-B14F-4D97-AF65-F5344CB8AC3E}">
        <p14:creationId xmlns:p14="http://schemas.microsoft.com/office/powerpoint/2010/main" val="2858539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2A8DEB1-A2A7-49AC-B199-8E0535337EC2}"/>
              </a:ext>
            </a:extLst>
          </p:cNvPr>
          <p:cNvSpPr>
            <a:spLocks noGrp="1"/>
          </p:cNvSpPr>
          <p:nvPr>
            <p:ph idx="1"/>
          </p:nvPr>
        </p:nvSpPr>
        <p:spPr>
          <a:xfrm>
            <a:off x="1251678" y="200025"/>
            <a:ext cx="10178322" cy="6419850"/>
          </a:xfrm>
        </p:spPr>
        <p:txBody>
          <a:bodyPr/>
          <a:lstStyle/>
          <a:p>
            <a:pPr marL="0" indent="0">
              <a:buNone/>
            </a:pPr>
            <a:r>
              <a:rPr lang="es-CO" dirty="0">
                <a:solidFill>
                  <a:schemeClr val="tx1"/>
                </a:solidFill>
              </a:rPr>
              <a:t>El formulario también cuenta con unos botones al lado izquierdo que están realizan las siguientes acciones.</a:t>
            </a:r>
          </a:p>
          <a:p>
            <a:r>
              <a:rPr lang="es-CO" dirty="0">
                <a:solidFill>
                  <a:schemeClr val="tx1"/>
                </a:solidFill>
              </a:rPr>
              <a:t>Registrar: Permite registrar la información ingresada al formulario</a:t>
            </a:r>
          </a:p>
          <a:p>
            <a:r>
              <a:rPr lang="es-CO" dirty="0">
                <a:solidFill>
                  <a:schemeClr val="tx1"/>
                </a:solidFill>
              </a:rPr>
              <a:t>Actualizar: Permite actualizar registros ingresados.</a:t>
            </a:r>
          </a:p>
          <a:p>
            <a:r>
              <a:rPr lang="es-CO" dirty="0">
                <a:solidFill>
                  <a:schemeClr val="tx1"/>
                </a:solidFill>
              </a:rPr>
              <a:t>Eliminar: Permite eliminar registros ingresados.</a:t>
            </a:r>
          </a:p>
          <a:p>
            <a:r>
              <a:rPr lang="es-CO" dirty="0">
                <a:solidFill>
                  <a:schemeClr val="tx1"/>
                </a:solidFill>
              </a:rPr>
              <a:t>Mostrar: Muestra el registro seleccionado.</a:t>
            </a:r>
          </a:p>
          <a:p>
            <a:r>
              <a:rPr lang="es-CO" dirty="0">
                <a:solidFill>
                  <a:schemeClr val="tx1"/>
                </a:solidFill>
              </a:rPr>
              <a:t>Limpia:  Deja en blanco todos los campos del formulario.</a:t>
            </a:r>
          </a:p>
        </p:txBody>
      </p:sp>
      <p:pic>
        <p:nvPicPr>
          <p:cNvPr id="4" name="Imagen 3">
            <a:extLst>
              <a:ext uri="{FF2B5EF4-FFF2-40B4-BE49-F238E27FC236}">
                <a16:creationId xmlns:a16="http://schemas.microsoft.com/office/drawing/2014/main" id="{E048A941-62E7-42FA-BB0C-43558546884E}"/>
              </a:ext>
            </a:extLst>
          </p:cNvPr>
          <p:cNvPicPr>
            <a:picLocks noChangeAspect="1"/>
          </p:cNvPicPr>
          <p:nvPr/>
        </p:nvPicPr>
        <p:blipFill>
          <a:blip r:embed="rId2"/>
          <a:stretch>
            <a:fillRect/>
          </a:stretch>
        </p:blipFill>
        <p:spPr>
          <a:xfrm>
            <a:off x="9410357" y="1028699"/>
            <a:ext cx="2019643" cy="5172075"/>
          </a:xfrm>
          <a:prstGeom prst="rect">
            <a:avLst/>
          </a:prstGeom>
        </p:spPr>
      </p:pic>
    </p:spTree>
    <p:extLst>
      <p:ext uri="{BB962C8B-B14F-4D97-AF65-F5344CB8AC3E}">
        <p14:creationId xmlns:p14="http://schemas.microsoft.com/office/powerpoint/2010/main" val="15708140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0BD719-0EE0-4984-A41D-D9BEB8E42C6B}"/>
              </a:ext>
            </a:extLst>
          </p:cNvPr>
          <p:cNvSpPr>
            <a:spLocks noGrp="1"/>
          </p:cNvSpPr>
          <p:nvPr>
            <p:ph type="ctrTitle"/>
          </p:nvPr>
        </p:nvSpPr>
        <p:spPr>
          <a:xfrm>
            <a:off x="1078523" y="485775"/>
            <a:ext cx="10318418" cy="5734050"/>
          </a:xfrm>
        </p:spPr>
        <p:txBody>
          <a:bodyPr/>
          <a:lstStyle/>
          <a:p>
            <a:r>
              <a:rPr lang="es-CO" dirty="0"/>
              <a:t>Salida del sistema</a:t>
            </a:r>
          </a:p>
        </p:txBody>
      </p:sp>
    </p:spTree>
    <p:extLst>
      <p:ext uri="{BB962C8B-B14F-4D97-AF65-F5344CB8AC3E}">
        <p14:creationId xmlns:p14="http://schemas.microsoft.com/office/powerpoint/2010/main" val="251764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426CDD7-1E89-4F3D-92E2-F7A2FFC4CEFE}"/>
              </a:ext>
            </a:extLst>
          </p:cNvPr>
          <p:cNvSpPr>
            <a:spLocks noGrp="1"/>
          </p:cNvSpPr>
          <p:nvPr>
            <p:ph idx="1"/>
          </p:nvPr>
        </p:nvSpPr>
        <p:spPr>
          <a:xfrm>
            <a:off x="1251678" y="466725"/>
            <a:ext cx="10178322" cy="6096000"/>
          </a:xfrm>
        </p:spPr>
        <p:txBody>
          <a:bodyPr/>
          <a:lstStyle/>
          <a:p>
            <a:pPr marL="0" indent="0">
              <a:buNone/>
            </a:pPr>
            <a:r>
              <a:rPr lang="es-CO" dirty="0"/>
              <a:t>Por ultimo para salir del sistema, debemos dirigirnos a la esquina superior izquierda y daremos clic a la pestaña salir, lo cual se desplegara otra llamada “Salir del Sistema”. Nos saldrá un cuadro de verificación para salir del sistema, le daremos al botón “yes” y ya estaríamos fuera del sistema.</a:t>
            </a:r>
          </a:p>
          <a:p>
            <a:pPr marL="0" indent="0">
              <a:buNone/>
            </a:pPr>
            <a:endParaRPr lang="es-CO" dirty="0"/>
          </a:p>
        </p:txBody>
      </p:sp>
      <p:pic>
        <p:nvPicPr>
          <p:cNvPr id="5" name="Imagen 4">
            <a:extLst>
              <a:ext uri="{FF2B5EF4-FFF2-40B4-BE49-F238E27FC236}">
                <a16:creationId xmlns:a16="http://schemas.microsoft.com/office/drawing/2014/main" id="{B4DE6961-B102-4280-B0D0-3384E5A2B196}"/>
              </a:ext>
            </a:extLst>
          </p:cNvPr>
          <p:cNvPicPr>
            <a:picLocks noChangeAspect="1"/>
          </p:cNvPicPr>
          <p:nvPr/>
        </p:nvPicPr>
        <p:blipFill>
          <a:blip r:embed="rId2"/>
          <a:stretch>
            <a:fillRect/>
          </a:stretch>
        </p:blipFill>
        <p:spPr>
          <a:xfrm>
            <a:off x="2624229" y="2183358"/>
            <a:ext cx="7433220" cy="4065042"/>
          </a:xfrm>
          <a:prstGeom prst="rect">
            <a:avLst/>
          </a:prstGeom>
        </p:spPr>
      </p:pic>
    </p:spTree>
    <p:extLst>
      <p:ext uri="{BB962C8B-B14F-4D97-AF65-F5344CB8AC3E}">
        <p14:creationId xmlns:p14="http://schemas.microsoft.com/office/powerpoint/2010/main" val="185302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5C72E2-B6F6-4D0C-8139-730D47AC8A60}"/>
              </a:ext>
            </a:extLst>
          </p:cNvPr>
          <p:cNvSpPr>
            <a:spLocks noGrp="1"/>
          </p:cNvSpPr>
          <p:nvPr>
            <p:ph type="title"/>
          </p:nvPr>
        </p:nvSpPr>
        <p:spPr>
          <a:xfrm>
            <a:off x="4420263" y="2764742"/>
            <a:ext cx="4662821" cy="1328515"/>
          </a:xfrm>
        </p:spPr>
        <p:txBody>
          <a:bodyPr/>
          <a:lstStyle/>
          <a:p>
            <a:r>
              <a:rPr lang="es-CO" dirty="0"/>
              <a:t>gracias</a:t>
            </a:r>
          </a:p>
        </p:txBody>
      </p:sp>
    </p:spTree>
    <p:extLst>
      <p:ext uri="{BB962C8B-B14F-4D97-AF65-F5344CB8AC3E}">
        <p14:creationId xmlns:p14="http://schemas.microsoft.com/office/powerpoint/2010/main" val="4153969269"/>
      </p:ext>
    </p:extLst>
  </p:cSld>
  <p:clrMapOvr>
    <a:masterClrMapping/>
  </p:clrMapOvr>
</p:sld>
</file>

<file path=ppt/theme/theme1.xml><?xml version="1.0" encoding="utf-8"?>
<a:theme xmlns:a="http://schemas.openxmlformats.org/drawingml/2006/main" name="Distintivo">
  <a:themeElements>
    <a:clrScheme name="Personalizado 2">
      <a:dk1>
        <a:sysClr val="windowText" lastClr="000000"/>
      </a:dk1>
      <a:lt1>
        <a:sysClr val="window" lastClr="FFFFFF"/>
      </a:lt1>
      <a:dk2>
        <a:srgbClr val="0B082E"/>
      </a:dk2>
      <a:lt2>
        <a:srgbClr val="F3F3F2"/>
      </a:lt2>
      <a:accent1>
        <a:srgbClr val="87A5E1"/>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Distintivo">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stintivo">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05986C14CB4F2D4FAE21293E9FAB0942" ma:contentTypeVersion="7" ma:contentTypeDescription="Crear nuevo documento." ma:contentTypeScope="" ma:versionID="e46988f1892591deed29e2e092bd3cf9">
  <xsd:schema xmlns:xsd="http://www.w3.org/2001/XMLSchema" xmlns:xs="http://www.w3.org/2001/XMLSchema" xmlns:p="http://schemas.microsoft.com/office/2006/metadata/properties" xmlns:ns3="32ee555b-a4f6-4299-93fe-3b4887f3dcce" xmlns:ns4="162b439e-10e4-4359-b416-1aeb2c855662" targetNamespace="http://schemas.microsoft.com/office/2006/metadata/properties" ma:root="true" ma:fieldsID="02b264c48835d9280c2738d3a28bf6b5" ns3:_="" ns4:_="">
    <xsd:import namespace="32ee555b-a4f6-4299-93fe-3b4887f3dcce"/>
    <xsd:import namespace="162b439e-10e4-4359-b416-1aeb2c855662"/>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ee555b-a4f6-4299-93fe-3b4887f3dcce"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2b439e-10e4-4359-b416-1aeb2c85566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A6EBEE-EEBF-4EB0-A290-CEA0692006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ee555b-a4f6-4299-93fe-3b4887f3dcce"/>
    <ds:schemaRef ds:uri="162b439e-10e4-4359-b416-1aeb2c8556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D14A10-46B0-4CD3-8B7F-5AD0D74B6163}">
  <ds:schemaRefs>
    <ds:schemaRef ds:uri="http://schemas.microsoft.com/sharepoint/v3/contenttype/forms"/>
  </ds:schemaRefs>
</ds:datastoreItem>
</file>

<file path=customXml/itemProps3.xml><?xml version="1.0" encoding="utf-8"?>
<ds:datastoreItem xmlns:ds="http://schemas.openxmlformats.org/officeDocument/2006/customXml" ds:itemID="{7140EAF5-5EAC-4B15-8291-326A7557D797}">
  <ds:schemaRefs>
    <ds:schemaRef ds:uri="http://schemas.microsoft.com/office/2006/documentManagement/types"/>
    <ds:schemaRef ds:uri="http://schemas.microsoft.com/office/2006/metadata/properties"/>
    <ds:schemaRef ds:uri="http://schemas.microsoft.com/office/infopath/2007/PartnerControls"/>
    <ds:schemaRef ds:uri="http://purl.org/dc/terms/"/>
    <ds:schemaRef ds:uri="http://purl.org/dc/elements/1.1/"/>
    <ds:schemaRef ds:uri="http://schemas.openxmlformats.org/package/2006/metadata/core-properties"/>
    <ds:schemaRef ds:uri="162b439e-10e4-4359-b416-1aeb2c855662"/>
    <ds:schemaRef ds:uri="32ee555b-a4f6-4299-93fe-3b4887f3dcce"/>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TM10001106[[fn=Distintivo]]</Template>
  <TotalTime>447</TotalTime>
  <Words>1066</Words>
  <Application>Microsoft Office PowerPoint</Application>
  <PresentationFormat>Panorámica</PresentationFormat>
  <Paragraphs>86</Paragraphs>
  <Slides>35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35</vt:i4>
      </vt:variant>
    </vt:vector>
  </HeadingPairs>
  <TitlesOfParts>
    <vt:vector size="39" baseType="lpstr">
      <vt:lpstr>Arial</vt:lpstr>
      <vt:lpstr>Gill Sans MT</vt:lpstr>
      <vt:lpstr>Impact</vt:lpstr>
      <vt:lpstr>Distintivo</vt:lpstr>
      <vt:lpstr>Manual de usuario</vt:lpstr>
      <vt:lpstr>Creación de LA base de datos</vt:lpstr>
      <vt:lpstr>Presentación de PowerPoint</vt:lpstr>
      <vt:lpstr>Presentación de PowerPoint</vt:lpstr>
      <vt:lpstr>Presentación de PowerPoint</vt:lpstr>
      <vt:lpstr>Presentación de PowerPoint</vt:lpstr>
      <vt:lpstr>ABRIR ARCHIVO EJECUTABLE</vt:lpstr>
      <vt:lpstr>Presentación de PowerPoint</vt:lpstr>
      <vt:lpstr>Presentación de PowerPoint</vt:lpstr>
      <vt:lpstr>Presentación de PowerPoint</vt:lpstr>
      <vt:lpstr>ABRIR PROYECTO EN nETBEANS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Ingreso y Uso del sistema</vt:lpstr>
      <vt:lpstr>Presentación de PowerPoint</vt:lpstr>
      <vt:lpstr>Presentación de PowerPoint</vt:lpstr>
      <vt:lpstr>Presentación de PowerPoint</vt:lpstr>
      <vt:lpstr>Ingreso de Visitantes</vt:lpstr>
      <vt:lpstr>Presentación de PowerPoint</vt:lpstr>
      <vt:lpstr>Presentación de PowerPoint</vt:lpstr>
      <vt:lpstr>Presentación de PowerPoint</vt:lpstr>
      <vt:lpstr>INGRESO DE EMPLEADOS</vt:lpstr>
      <vt:lpstr>Presentación de PowerPoint</vt:lpstr>
      <vt:lpstr>Presentación de PowerPoint</vt:lpstr>
      <vt:lpstr>Presentación de PowerPoint</vt:lpstr>
      <vt:lpstr>Salida del sistema</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de usuario</dc:title>
  <dc:creator>Brandon Sebastian  Quintero Cepeda</dc:creator>
  <cp:lastModifiedBy>juanmorenoreyes2@outlook.com</cp:lastModifiedBy>
  <cp:revision>14</cp:revision>
  <dcterms:created xsi:type="dcterms:W3CDTF">2021-12-02T17:50:25Z</dcterms:created>
  <dcterms:modified xsi:type="dcterms:W3CDTF">2021-12-05T04:39:30Z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0x01010005986C14CB4F2D4FAE21293E9FAB0942</vt:lpwstr>
  </property>
</Properties>
</file>